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3"/>
    <p:sldMasterId id="2147483724" r:id="rId4"/>
  </p:sldMasterIdLst>
  <p:notesMasterIdLst>
    <p:notesMasterId r:id="rId21"/>
  </p:notesMasterIdLst>
  <p:handoutMasterIdLst>
    <p:handoutMasterId r:id="rId22"/>
  </p:handoutMasterIdLst>
  <p:sldIdLst>
    <p:sldId id="429" r:id="rId5"/>
    <p:sldId id="425" r:id="rId6"/>
    <p:sldId id="422" r:id="rId7"/>
    <p:sldId id="418" r:id="rId8"/>
    <p:sldId id="427" r:id="rId9"/>
    <p:sldId id="420" r:id="rId10"/>
    <p:sldId id="419" r:id="rId11"/>
    <p:sldId id="421" r:id="rId12"/>
    <p:sldId id="426" r:id="rId13"/>
    <p:sldId id="424" r:id="rId14"/>
    <p:sldId id="430" r:id="rId15"/>
    <p:sldId id="423" r:id="rId16"/>
    <p:sldId id="409" r:id="rId17"/>
    <p:sldId id="431" r:id="rId18"/>
    <p:sldId id="428" r:id="rId19"/>
    <p:sldId id="288" r:id="rId20"/>
  </p:sldIdLst>
  <p:sldSz cx="12192000" cy="6858000"/>
  <p:notesSz cx="6858000" cy="9144000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89646A-CFCD-4E8E-94FD-F0A286C07575}">
          <p14:sldIdLst/>
        </p14:section>
        <p14:section name="Agenda" id="{3A3042AC-662E-4A69-BB2D-EBAFF97EEAF5}">
          <p14:sldIdLst>
            <p14:sldId id="429"/>
            <p14:sldId id="425"/>
          </p14:sldIdLst>
        </p14:section>
        <p14:section name="Meet Coaches" id="{D406820B-399B-4A34-9148-B3F013978C6A}">
          <p14:sldIdLst>
            <p14:sldId id="422"/>
          </p14:sldIdLst>
        </p14:section>
        <p14:section name="scenario" id="{3BBA79BE-4F68-443D-BA08-6D36CB1710E3}">
          <p14:sldIdLst>
            <p14:sldId id="418"/>
            <p14:sldId id="427"/>
            <p14:sldId id="420"/>
            <p14:sldId id="419"/>
            <p14:sldId id="421"/>
            <p14:sldId id="426"/>
          </p14:sldIdLst>
        </p14:section>
        <p14:section name="hints" id="{5DD27673-3D85-4EDB-A887-377C1B7DAE3F}">
          <p14:sldIdLst>
            <p14:sldId id="424"/>
            <p14:sldId id="430"/>
            <p14:sldId id="423"/>
          </p14:sldIdLst>
        </p14:section>
        <p14:section name="Followup" id="{E228A65D-4B95-4FEE-9A69-F629087D1923}">
          <p14:sldIdLst>
            <p14:sldId id="409"/>
            <p14:sldId id="431"/>
          </p14:sldIdLst>
        </p14:section>
        <p14:section name="Next Steps" id="{5F8C4C66-6F32-4CD8-B85D-FF2785229007}">
          <p14:sldIdLst>
            <p14:sldId id="428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pos="6131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orient="horz" pos="2092" userDrawn="1">
          <p15:clr>
            <a:srgbClr val="A4A3A4"/>
          </p15:clr>
        </p15:guide>
        <p15:guide id="4" orient="horz" pos="2976" userDrawn="1">
          <p15:clr>
            <a:srgbClr val="A4A3A4"/>
          </p15:clr>
        </p15:guide>
        <p15:guide id="5" orient="horz" pos="1593" userDrawn="1">
          <p15:clr>
            <a:srgbClr val="A4A3A4"/>
          </p15:clr>
        </p15:guide>
        <p15:guide id="6" orient="horz" pos="958" userDrawn="1">
          <p15:clr>
            <a:srgbClr val="A4A3A4"/>
          </p15:clr>
        </p15:guide>
        <p15:guide id="7" orient="horz" pos="2795" userDrawn="1">
          <p15:clr>
            <a:srgbClr val="A4A3A4"/>
          </p15:clr>
        </p15:guide>
        <p15:guide id="8" orient="horz" pos="3952" userDrawn="1">
          <p15:clr>
            <a:srgbClr val="A4A3A4"/>
          </p15:clr>
        </p15:guide>
        <p15:guide id="9" pos="2683" userDrawn="1">
          <p15:clr>
            <a:srgbClr val="A4A3A4"/>
          </p15:clr>
        </p15:guide>
        <p15:guide id="10" pos="3863" userDrawn="1">
          <p15:clr>
            <a:srgbClr val="A4A3A4"/>
          </p15:clr>
        </p15:guide>
        <p15:guide id="11" pos="529" userDrawn="1">
          <p15:clr>
            <a:srgbClr val="A4A3A4"/>
          </p15:clr>
        </p15:guide>
        <p15:guide id="12" pos="3069" userDrawn="1">
          <p15:clr>
            <a:srgbClr val="A4A3A4"/>
          </p15:clr>
        </p15:guide>
        <p15:guide id="13" orient="horz" pos="34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ane Keller" initials="DK" lastIdx="36" clrIdx="0">
    <p:extLst>
      <p:ext uri="{19B8F6BF-5375-455C-9EA6-DF929625EA0E}">
        <p15:presenceInfo xmlns:p15="http://schemas.microsoft.com/office/powerpoint/2012/main" userId="S-1-5-21-318882301-789922187-912061101-1680" providerId="AD"/>
      </p:ext>
    </p:extLst>
  </p:cmAuthor>
  <p:cmAuthor id="2" name=" " initials="" lastIdx="5" clrIdx="1">
    <p:extLst>
      <p:ext uri="{19B8F6BF-5375-455C-9EA6-DF929625EA0E}">
        <p15:presenceInfo xmlns:p15="http://schemas.microsoft.com/office/powerpoint/2012/main" userId="824f54c6a1afb7f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0000"/>
    <a:srgbClr val="EDEFF7"/>
    <a:srgbClr val="FFD270"/>
    <a:srgbClr val="EEAA9C"/>
    <a:srgbClr val="EE9E8E"/>
    <a:srgbClr val="B7E3C3"/>
    <a:srgbClr val="9EDAAE"/>
    <a:srgbClr val="85D199"/>
    <a:srgbClr val="4DC7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2970" autoAdjust="0"/>
  </p:normalViewPr>
  <p:slideViewPr>
    <p:cSldViewPr snapToGrid="0" showGuides="1">
      <p:cViewPr varScale="1">
        <p:scale>
          <a:sx n="95" d="100"/>
          <a:sy n="95" d="100"/>
        </p:scale>
        <p:origin x="876" y="306"/>
      </p:cViewPr>
      <p:guideLst>
        <p:guide pos="6131"/>
        <p:guide pos="393"/>
        <p:guide orient="horz" pos="2092"/>
        <p:guide orient="horz" pos="2976"/>
        <p:guide orient="horz" pos="1593"/>
        <p:guide orient="horz" pos="958"/>
        <p:guide orient="horz" pos="2795"/>
        <p:guide orient="horz" pos="3952"/>
        <p:guide pos="2683"/>
        <p:guide pos="3863"/>
        <p:guide pos="529"/>
        <p:guide pos="3069"/>
        <p:guide orient="horz" pos="349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howGuides="1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5AB06-B6BB-4ACB-8A64-E8D2F22F93F5}" type="datetimeFigureOut">
              <a:rPr lang="de-DE" smtClean="0"/>
              <a:t>09.04.2025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9C2F7-4DE5-4587-8FC7-7A9FE8E2ABA7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97358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76CC4-DEFB-4F3C-A967-A5DAB45FF068}" type="datetimeFigureOut">
              <a:rPr lang="de-DE" smtClean="0"/>
              <a:t>09.04.2025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15FFD-0145-4494-A555-FB11F75277F5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625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Dunkelheit, draußen, Nacht, Licht enthält.&#10;&#10;Automatisch generierte Beschreibung">
            <a:extLst>
              <a:ext uri="{FF2B5EF4-FFF2-40B4-BE49-F238E27FC236}">
                <a16:creationId xmlns:a16="http://schemas.microsoft.com/office/drawing/2014/main" id="{431FB1FF-0424-ACC9-6BEE-D5D132BA0C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6" t="8919" r="5750" b="-443"/>
          <a:stretch/>
        </p:blipFill>
        <p:spPr>
          <a:xfrm>
            <a:off x="0" y="0"/>
            <a:ext cx="12191999" cy="6891339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CC819D2D-5945-1DB5-0D34-06F199447A7F}"/>
              </a:ext>
            </a:extLst>
          </p:cNvPr>
          <p:cNvSpPr/>
          <p:nvPr userDrawn="1"/>
        </p:nvSpPr>
        <p:spPr>
          <a:xfrm>
            <a:off x="8023045" y="6005632"/>
            <a:ext cx="3556586" cy="608316"/>
          </a:xfrm>
          <a:prstGeom prst="rect">
            <a:avLst/>
          </a:prstGeom>
          <a:solidFill>
            <a:srgbClr val="121B46">
              <a:alpha val="30196"/>
            </a:srgbClr>
          </a:solidFill>
          <a:ln w="9525">
            <a:solidFill>
              <a:schemeClr val="accent1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D3BC99-1501-9A6E-EA25-76924A43CB4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888385" y="2122810"/>
            <a:ext cx="6786264" cy="44518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2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Referentenname</a:t>
            </a:r>
          </a:p>
          <a:p>
            <a:pPr lvl="0"/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FE4D742-4AC2-9F56-6B2A-EAFD950DDC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81563" y="348835"/>
            <a:ext cx="6793086" cy="1646661"/>
          </a:xfrm>
          <a:prstGeom prst="rect">
            <a:avLst/>
          </a:prstGeom>
          <a:noFill/>
          <a:effectLst>
            <a:softEdge rad="317500"/>
          </a:effectLst>
        </p:spPr>
        <p:txBody>
          <a:bodyPr anchor="ctr" anchorCtr="0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 eingeben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9D2F814-9087-CD61-B36A-B95223C007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9402" y="2599711"/>
            <a:ext cx="6785247" cy="44518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2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Firma</a:t>
            </a:r>
          </a:p>
          <a:p>
            <a:pPr lvl="0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26B0B39-3AD2-6FDE-E097-22CEBC60B544}"/>
              </a:ext>
            </a:extLst>
          </p:cNvPr>
          <p:cNvSpPr/>
          <p:nvPr userDrawn="1"/>
        </p:nvSpPr>
        <p:spPr>
          <a:xfrm>
            <a:off x="9221273" y="3888949"/>
            <a:ext cx="2670690" cy="2670690"/>
          </a:xfrm>
          <a:prstGeom prst="rect">
            <a:avLst/>
          </a:prstGeom>
          <a:solidFill>
            <a:schemeClr val="accent3"/>
          </a:solidFill>
          <a:ln w="9525">
            <a:noFill/>
          </a:ln>
          <a:effectLst>
            <a:outerShdw blurRad="127000" sx="102000" sy="102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1CEC11C-6A23-0979-C4EB-5396D6FE9B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461" y="4105346"/>
            <a:ext cx="606188" cy="606188"/>
          </a:xfrm>
          <a:prstGeom prst="rect">
            <a:avLst/>
          </a:prstGeom>
        </p:spPr>
      </p:pic>
      <p:pic>
        <p:nvPicPr>
          <p:cNvPr id="17" name="Grafik 16" descr="Ein Bild, das Text, Schrift, Grafiken, Grafikdesign enthält.&#10;&#10;Automatisch generierte Beschreibung">
            <a:extLst>
              <a:ext uri="{FF2B5EF4-FFF2-40B4-BE49-F238E27FC236}">
                <a16:creationId xmlns:a16="http://schemas.microsoft.com/office/drawing/2014/main" id="{B297E0CB-F99D-2059-8767-7FA2039172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137" y="4682671"/>
            <a:ext cx="2100370" cy="982665"/>
          </a:xfrm>
          <a:prstGeom prst="rect">
            <a:avLst/>
          </a:prstGeom>
        </p:spPr>
      </p:pic>
      <p:pic>
        <p:nvPicPr>
          <p:cNvPr id="28" name="Grafik 27" descr="Ein Bild, das Text, Schrift, Grafiken, Typografie enthält.&#10;&#10;Automatisch generierte Beschreibung">
            <a:extLst>
              <a:ext uri="{FF2B5EF4-FFF2-40B4-BE49-F238E27FC236}">
                <a16:creationId xmlns:a16="http://schemas.microsoft.com/office/drawing/2014/main" id="{571B35A4-53A8-473D-22D8-089295474D7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137" y="5981494"/>
            <a:ext cx="2057032" cy="404888"/>
          </a:xfrm>
          <a:prstGeom prst="rect">
            <a:avLst/>
          </a:prstGeom>
        </p:spPr>
      </p:pic>
      <p:pic>
        <p:nvPicPr>
          <p:cNvPr id="7" name="Grafik 6" descr="Ein Bild, das Text, Schrift, Grafiken, Grafikdesign enthält.&#10;&#10;Automatisch generierte Beschreibung">
            <a:extLst>
              <a:ext uri="{FF2B5EF4-FFF2-40B4-BE49-F238E27FC236}">
                <a16:creationId xmlns:a16="http://schemas.microsoft.com/office/drawing/2014/main" id="{E4E48710-8CC1-D4E4-CF30-A49E85C497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91" y="4640966"/>
            <a:ext cx="2579618" cy="185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11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>
          <p15:clr>
            <a:srgbClr val="FBAE40"/>
          </p15:clr>
        </p15:guide>
        <p15:guide id="5" orient="horz" pos="4133">
          <p15:clr>
            <a:srgbClr val="FBAE40"/>
          </p15:clr>
        </p15:guide>
        <p15:guide id="6" orient="horz" pos="2976" userDrawn="1">
          <p15:clr>
            <a:srgbClr val="FBAE40"/>
          </p15:clr>
        </p15:guide>
        <p15:guide id="7" pos="3840">
          <p15:clr>
            <a:srgbClr val="FBAE40"/>
          </p15:clr>
        </p15:guide>
        <p15:guide id="17" orient="horz" pos="777">
          <p15:clr>
            <a:srgbClr val="FBAE40"/>
          </p15:clr>
        </p15:guide>
        <p15:guide id="18" orient="horz" pos="3566">
          <p15:clr>
            <a:srgbClr val="FBAE40"/>
          </p15:clr>
        </p15:guide>
        <p15:guide id="20" orient="horz" pos="2160">
          <p15:clr>
            <a:srgbClr val="FBAE40"/>
          </p15:clr>
        </p15:guide>
        <p15:guide id="21" pos="370">
          <p15:clr>
            <a:srgbClr val="FBAE40"/>
          </p15:clr>
        </p15:guide>
        <p15:guide id="22" orient="horz" pos="2260">
          <p15:clr>
            <a:srgbClr val="FBAE40"/>
          </p15:clr>
        </p15:guide>
        <p15:guide id="23" orient="horz" pos="686">
          <p15:clr>
            <a:srgbClr val="FBAE40"/>
          </p15:clr>
        </p15:guide>
        <p15:guide id="24" pos="73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Dunkelheit, Himmel, Licht, Auto enthält.&#10;&#10;Automatisch generierte Beschreibung">
            <a:extLst>
              <a:ext uri="{FF2B5EF4-FFF2-40B4-BE49-F238E27FC236}">
                <a16:creationId xmlns:a16="http://schemas.microsoft.com/office/drawing/2014/main" id="{AD2B1B0A-5D40-6DE3-4CDC-14B69BBA6D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50" b="5448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B4F0257-AE55-0D86-3195-883F1BEEC5E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9" y="152400"/>
            <a:ext cx="7527924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Inhaltsverzeichnis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39AC154-A61D-3058-529F-FA06AFD39E41}"/>
              </a:ext>
            </a:extLst>
          </p:cNvPr>
          <p:cNvSpPr/>
          <p:nvPr userDrawn="1"/>
        </p:nvSpPr>
        <p:spPr>
          <a:xfrm flipV="1">
            <a:off x="8336924" y="5755861"/>
            <a:ext cx="3855076" cy="1389323"/>
          </a:xfrm>
          <a:prstGeom prst="rect">
            <a:avLst/>
          </a:prstGeom>
          <a:solidFill>
            <a:schemeClr val="accent6">
              <a:alpha val="10000"/>
            </a:schemeClr>
          </a:solidFill>
          <a:ln w="9525"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DE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0843323-B0B3-DE77-003D-7A80E68698FB}"/>
              </a:ext>
            </a:extLst>
          </p:cNvPr>
          <p:cNvSpPr txBox="1">
            <a:spLocks/>
          </p:cNvSpPr>
          <p:nvPr userDrawn="1"/>
        </p:nvSpPr>
        <p:spPr>
          <a:xfrm>
            <a:off x="423974" y="6430711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© DSAG | Seite </a:t>
            </a:r>
            <a:fld id="{DA91E406-5084-3248-8911-C7B8CABF8078}" type="slidenum"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pPr algn="l"/>
              <a:t>‹#›</a:t>
            </a:fld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 | </a:t>
            </a:r>
            <a:fld id="{F7A57CAC-9BE6-984A-ACA0-6397C7AD78FB}" type="datetime4">
              <a:rPr lang="de-DE" sz="900" b="0" i="0" smtClean="0">
                <a:solidFill>
                  <a:schemeClr val="bg1"/>
                </a:solidFill>
                <a:latin typeface="+mn-lt"/>
                <a:cs typeface="Helvetica Light"/>
              </a:rPr>
              <a:pPr algn="l"/>
              <a:t>9. April 2025</a:t>
            </a:fld>
            <a:endParaRPr lang="de-DE" sz="900" b="0" i="0" dirty="0">
              <a:solidFill>
                <a:schemeClr val="bg1"/>
              </a:solidFill>
              <a:latin typeface="+mn-lt"/>
              <a:cs typeface="Helvetica Light"/>
            </a:endParaRPr>
          </a:p>
        </p:txBody>
      </p:sp>
      <p:sp>
        <p:nvSpPr>
          <p:cNvPr id="59" name="Textplatzhalter 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27125" y="1514466"/>
            <a:ext cx="6916738" cy="4654550"/>
          </a:xfrm>
          <a:prstGeom prst="rect">
            <a:avLst/>
          </a:prstGeom>
        </p:spPr>
        <p:txBody>
          <a:bodyPr/>
          <a:lstStyle>
            <a:lvl1pPr marL="457200" marR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marL="457200" marR="0" lvl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/>
            </a:pPr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marL="457200" marR="0" lvl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/>
            </a:pPr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marL="457200" marR="0" lvl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/>
            </a:pPr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marL="457200" marR="0" lvl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/>
            </a:pPr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lvl="0"/>
            <a:endParaRPr lang="de-DE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4BA132A3-6EEB-7851-D02D-4B65195148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850" y="6271407"/>
            <a:ext cx="2479859" cy="22422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553D856-750F-D391-E3A3-D60FD24F13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0672" y="6111316"/>
            <a:ext cx="569256" cy="54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52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6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  <p15:guide id="6" pos="710" userDrawn="1">
          <p15:clr>
            <a:srgbClr val="FBAE40"/>
          </p15:clr>
        </p15:guide>
        <p15:guide id="7" pos="393" userDrawn="1">
          <p15:clr>
            <a:srgbClr val="FBAE40"/>
          </p15:clr>
        </p15:guide>
        <p15:guide id="8" pos="461" userDrawn="1">
          <p15:clr>
            <a:srgbClr val="FBAE40"/>
          </p15:clr>
        </p15:guide>
        <p15:guide id="9" pos="749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Dunkelheit, Himmel, Licht, Auto enthält.&#10;&#10;Automatisch generierte Beschreibung">
            <a:extLst>
              <a:ext uri="{FF2B5EF4-FFF2-40B4-BE49-F238E27FC236}">
                <a16:creationId xmlns:a16="http://schemas.microsoft.com/office/drawing/2014/main" id="{61EEEBE9-4938-7758-278F-A423ACB5CB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50" b="5448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7EB6490-9888-E350-A4B9-93E9D102FC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0672" y="6111316"/>
            <a:ext cx="569256" cy="54440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6A07312-4AED-957E-2155-0B7CD549FF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850" y="6271407"/>
            <a:ext cx="2479859" cy="224220"/>
          </a:xfrm>
          <a:prstGeom prst="rect">
            <a:avLst/>
          </a:prstGeom>
        </p:spPr>
      </p:pic>
      <p:sp>
        <p:nvSpPr>
          <p:cNvPr id="59" name="Textplatzhalter 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27124" y="2079408"/>
            <a:ext cx="7007225" cy="1610011"/>
          </a:xfrm>
          <a:prstGeom prst="rect">
            <a:avLst/>
          </a:prstGeom>
          <a:ln w="28575">
            <a:noFill/>
          </a:ln>
        </p:spPr>
        <p:txBody>
          <a:bodyPr wrap="square" lIns="90000" tIns="180000" rIns="90000" bIns="180000">
            <a:spAutoFit/>
          </a:bodyPr>
          <a:lstStyle>
            <a:lvl1pPr marL="0" marR="0" indent="0" algn="l" defTabSz="916494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30000"/>
              </a:spcAft>
              <a:buClr>
                <a:schemeClr val="accent1"/>
              </a:buClr>
              <a:buSzTx/>
              <a:buFont typeface="+mj-lt"/>
              <a:buNone/>
              <a:tabLst/>
              <a:defRPr sz="3000" b="0">
                <a:solidFill>
                  <a:schemeClr val="bg1"/>
                </a:solidFill>
                <a:latin typeface="+mj-lt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r>
              <a:rPr lang="de-DE" dirty="0"/>
              <a:t>Thema, Arial Black, 30 </a:t>
            </a:r>
            <a:r>
              <a:rPr lang="de-DE" dirty="0" err="1"/>
              <a:t>pt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F00CDABE-5B67-1FF1-3374-54884A10CB0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8" y="152400"/>
            <a:ext cx="7569545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3819C7CA-109D-3CE6-A1CD-30DCE3133882}"/>
              </a:ext>
            </a:extLst>
          </p:cNvPr>
          <p:cNvSpPr txBox="1">
            <a:spLocks/>
          </p:cNvSpPr>
          <p:nvPr userDrawn="1"/>
        </p:nvSpPr>
        <p:spPr>
          <a:xfrm>
            <a:off x="423974" y="6430711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© DSAG | Seite </a:t>
            </a:r>
            <a:fld id="{DA91E406-5084-3248-8911-C7B8CABF8078}" type="slidenum"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pPr algn="l"/>
              <a:t>‹#›</a:t>
            </a:fld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 | </a:t>
            </a:r>
            <a:fld id="{F7A57CAC-9BE6-984A-ACA0-6397C7AD78FB}" type="datetime4">
              <a:rPr lang="de-DE" sz="900" b="0" i="0" smtClean="0">
                <a:solidFill>
                  <a:schemeClr val="bg1"/>
                </a:solidFill>
                <a:latin typeface="+mn-lt"/>
                <a:cs typeface="Helvetica Light"/>
              </a:rPr>
              <a:pPr algn="l"/>
              <a:t>9. April 2025</a:t>
            </a:fld>
            <a:endParaRPr lang="de-DE" sz="900" b="0" i="0" dirty="0">
              <a:solidFill>
                <a:schemeClr val="bg1"/>
              </a:solidFill>
              <a:latin typeface="+mn-l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7278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FBAE40"/>
          </p15:clr>
        </p15:guide>
        <p15:guide id="8" orient="horz" pos="96" userDrawn="1">
          <p15:clr>
            <a:srgbClr val="FBAE40"/>
          </p15:clr>
        </p15:guide>
        <p15:guide id="9" pos="461" userDrawn="1">
          <p15:clr>
            <a:srgbClr val="FBAE40"/>
          </p15:clr>
        </p15:guide>
        <p15:guide id="10" pos="393" userDrawn="1">
          <p15:clr>
            <a:srgbClr val="FBAE40"/>
          </p15:clr>
        </p15:guide>
        <p15:guide id="11" pos="710" userDrawn="1">
          <p15:clr>
            <a:srgbClr val="FBAE40"/>
          </p15:clr>
        </p15:guide>
        <p15:guide id="12" orient="horz" pos="6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Dunkelheit, Himmel, Licht, Auto enthält.&#10;&#10;Automatisch generierte Beschreibung">
            <a:extLst>
              <a:ext uri="{FF2B5EF4-FFF2-40B4-BE49-F238E27FC236}">
                <a16:creationId xmlns:a16="http://schemas.microsoft.com/office/drawing/2014/main" id="{B980E8D3-7B1D-BB99-BB31-31898367B5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50" b="5448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2" name="Grafik 11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F022C76B-EB67-105A-2596-A3F17C276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86" y="657151"/>
            <a:ext cx="4397873" cy="2477169"/>
          </a:xfrm>
          <a:prstGeom prst="rect">
            <a:avLst/>
          </a:prstGeom>
        </p:spPr>
      </p:pic>
      <p:sp>
        <p:nvSpPr>
          <p:cNvPr id="2" name="Stern: 5 Zacken 1">
            <a:extLst>
              <a:ext uri="{FF2B5EF4-FFF2-40B4-BE49-F238E27FC236}">
                <a16:creationId xmlns:a16="http://schemas.microsoft.com/office/drawing/2014/main" id="{0E89C6B5-2106-6B76-2C3B-82225C62461B}"/>
              </a:ext>
            </a:extLst>
          </p:cNvPr>
          <p:cNvSpPr/>
          <p:nvPr userDrawn="1"/>
        </p:nvSpPr>
        <p:spPr>
          <a:xfrm>
            <a:off x="1520557" y="3799030"/>
            <a:ext cx="374554" cy="374554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tern: 5 Zacken 2">
            <a:extLst>
              <a:ext uri="{FF2B5EF4-FFF2-40B4-BE49-F238E27FC236}">
                <a16:creationId xmlns:a16="http://schemas.microsoft.com/office/drawing/2014/main" id="{3D12620F-DD92-812D-0AA1-F76FB9E86029}"/>
              </a:ext>
            </a:extLst>
          </p:cNvPr>
          <p:cNvSpPr/>
          <p:nvPr userDrawn="1"/>
        </p:nvSpPr>
        <p:spPr>
          <a:xfrm>
            <a:off x="2150021" y="3799030"/>
            <a:ext cx="374554" cy="374554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Stern: 5 Zacken 3">
            <a:extLst>
              <a:ext uri="{FF2B5EF4-FFF2-40B4-BE49-F238E27FC236}">
                <a16:creationId xmlns:a16="http://schemas.microsoft.com/office/drawing/2014/main" id="{DD567D21-D047-0046-37E9-43EB5D396EBC}"/>
              </a:ext>
            </a:extLst>
          </p:cNvPr>
          <p:cNvSpPr/>
          <p:nvPr userDrawn="1"/>
        </p:nvSpPr>
        <p:spPr>
          <a:xfrm>
            <a:off x="2781972" y="3799030"/>
            <a:ext cx="374554" cy="374554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Stern: 5 Zacken 7">
            <a:extLst>
              <a:ext uri="{FF2B5EF4-FFF2-40B4-BE49-F238E27FC236}">
                <a16:creationId xmlns:a16="http://schemas.microsoft.com/office/drawing/2014/main" id="{CEB66161-BC58-4A87-3234-BA9462BF3883}"/>
              </a:ext>
            </a:extLst>
          </p:cNvPr>
          <p:cNvSpPr/>
          <p:nvPr userDrawn="1"/>
        </p:nvSpPr>
        <p:spPr>
          <a:xfrm>
            <a:off x="3413923" y="3799030"/>
            <a:ext cx="374554" cy="374554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Stern: 5 Zacken 8">
            <a:extLst>
              <a:ext uri="{FF2B5EF4-FFF2-40B4-BE49-F238E27FC236}">
                <a16:creationId xmlns:a16="http://schemas.microsoft.com/office/drawing/2014/main" id="{07461480-F487-A98C-5E6D-8A32A99D588C}"/>
              </a:ext>
            </a:extLst>
          </p:cNvPr>
          <p:cNvSpPr/>
          <p:nvPr userDrawn="1"/>
        </p:nvSpPr>
        <p:spPr>
          <a:xfrm>
            <a:off x="4045874" y="3799030"/>
            <a:ext cx="374554" cy="374554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A57BE2B-FDF4-3F51-3915-2EC71DCD0F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0672" y="6111316"/>
            <a:ext cx="569256" cy="54440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A579C0B-2570-A70E-9B14-37E5389E05E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850" y="6271407"/>
            <a:ext cx="2479859" cy="224220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FC10DA68-9B01-5910-2A98-FBCE2CFF5F03}"/>
              </a:ext>
            </a:extLst>
          </p:cNvPr>
          <p:cNvGrpSpPr/>
          <p:nvPr userDrawn="1"/>
        </p:nvGrpSpPr>
        <p:grpSpPr>
          <a:xfrm>
            <a:off x="5489262" y="528865"/>
            <a:ext cx="2910533" cy="5210242"/>
            <a:chOff x="5279712" y="510841"/>
            <a:chExt cx="2910533" cy="5210242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B43E6327-98CE-8CAF-942B-4F26C8FDDE8B}"/>
                </a:ext>
              </a:extLst>
            </p:cNvPr>
            <p:cNvSpPr/>
            <p:nvPr/>
          </p:nvSpPr>
          <p:spPr>
            <a:xfrm rot="552488">
              <a:off x="5527199" y="534605"/>
              <a:ext cx="2663046" cy="5186478"/>
            </a:xfrm>
            <a:prstGeom prst="roundRect">
              <a:avLst/>
            </a:prstGeom>
            <a:gradFill>
              <a:gsLst>
                <a:gs pos="0">
                  <a:srgbClr val="000000">
                    <a:alpha val="20000"/>
                  </a:srgbClr>
                </a:gs>
                <a:gs pos="100000">
                  <a:srgbClr val="000000">
                    <a:alpha val="74000"/>
                  </a:srgbClr>
                </a:gs>
              </a:gsLst>
              <a:lin ang="3000000" scaled="0"/>
            </a:gradFill>
            <a:ln w="9525"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7" name="Grafik 6" descr="Ein Bild, das Text, Screenshot, Handy, mobiles Gerät enthält.&#10;&#10;Automatisch generierte Beschreibung">
              <a:extLst>
                <a:ext uri="{FF2B5EF4-FFF2-40B4-BE49-F238E27FC236}">
                  <a16:creationId xmlns:a16="http://schemas.microsoft.com/office/drawing/2014/main" id="{228041D5-8D41-5A02-3B1E-F84EBB0B68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5279712" y="510841"/>
              <a:ext cx="2771409" cy="4442024"/>
            </a:xfrm>
            <a:prstGeom prst="rect">
              <a:avLst/>
            </a:prstGeom>
          </p:spPr>
        </p:pic>
      </p:grpSp>
      <p:sp>
        <p:nvSpPr>
          <p:cNvPr id="16" name="Stern: 5 Zacken 15">
            <a:extLst>
              <a:ext uri="{FF2B5EF4-FFF2-40B4-BE49-F238E27FC236}">
                <a16:creationId xmlns:a16="http://schemas.microsoft.com/office/drawing/2014/main" id="{03533D36-353E-3808-11AC-3C9C7FE8E4D6}"/>
              </a:ext>
            </a:extLst>
          </p:cNvPr>
          <p:cNvSpPr/>
          <p:nvPr userDrawn="1"/>
        </p:nvSpPr>
        <p:spPr>
          <a:xfrm>
            <a:off x="1520341" y="3791470"/>
            <a:ext cx="379469" cy="379469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Stern: 5 Zacken 16">
            <a:extLst>
              <a:ext uri="{FF2B5EF4-FFF2-40B4-BE49-F238E27FC236}">
                <a16:creationId xmlns:a16="http://schemas.microsoft.com/office/drawing/2014/main" id="{57E358F9-19E1-8F84-8C34-25FE0396E85A}"/>
              </a:ext>
            </a:extLst>
          </p:cNvPr>
          <p:cNvSpPr/>
          <p:nvPr userDrawn="1"/>
        </p:nvSpPr>
        <p:spPr>
          <a:xfrm>
            <a:off x="2149805" y="3791470"/>
            <a:ext cx="379469" cy="379469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Stern: 5 Zacken 17">
            <a:extLst>
              <a:ext uri="{FF2B5EF4-FFF2-40B4-BE49-F238E27FC236}">
                <a16:creationId xmlns:a16="http://schemas.microsoft.com/office/drawing/2014/main" id="{1F65904D-A35E-258F-02C1-146C4B00CAFB}"/>
              </a:ext>
            </a:extLst>
          </p:cNvPr>
          <p:cNvSpPr/>
          <p:nvPr userDrawn="1"/>
        </p:nvSpPr>
        <p:spPr>
          <a:xfrm>
            <a:off x="2781756" y="3791470"/>
            <a:ext cx="379469" cy="379469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Stern: 5 Zacken 18">
            <a:extLst>
              <a:ext uri="{FF2B5EF4-FFF2-40B4-BE49-F238E27FC236}">
                <a16:creationId xmlns:a16="http://schemas.microsoft.com/office/drawing/2014/main" id="{478AA028-E7ED-98F7-59E6-D71A79026CD4}"/>
              </a:ext>
            </a:extLst>
          </p:cNvPr>
          <p:cNvSpPr/>
          <p:nvPr userDrawn="1"/>
        </p:nvSpPr>
        <p:spPr>
          <a:xfrm>
            <a:off x="3413707" y="3791470"/>
            <a:ext cx="379469" cy="379469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Stern: 5 Zacken 19">
            <a:extLst>
              <a:ext uri="{FF2B5EF4-FFF2-40B4-BE49-F238E27FC236}">
                <a16:creationId xmlns:a16="http://schemas.microsoft.com/office/drawing/2014/main" id="{BDA395C4-97CC-C5F9-E3FF-838714EA1EC4}"/>
              </a:ext>
            </a:extLst>
          </p:cNvPr>
          <p:cNvSpPr/>
          <p:nvPr userDrawn="1"/>
        </p:nvSpPr>
        <p:spPr>
          <a:xfrm>
            <a:off x="4045658" y="3791470"/>
            <a:ext cx="379469" cy="379469"/>
          </a:xfrm>
          <a:prstGeom prst="star5">
            <a:avLst>
              <a:gd name="adj" fmla="val 23209"/>
              <a:gd name="hf" fmla="val 105146"/>
              <a:gd name="vf" fmla="val 110557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532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5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125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5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125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25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125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75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750"/>
                            </p:stCondLst>
                            <p:childTnLst>
                              <p:par>
                                <p:cTn id="64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5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125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25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250"/>
                            </p:stCondLst>
                            <p:childTnLst>
                              <p:par>
                                <p:cTn id="71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5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125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750"/>
                            </p:stCondLst>
                            <p:childTnLst>
                              <p:par>
                                <p:cTn id="75" presetID="45" presetClass="exit" presetSubtype="0" fill="hold" grpId="2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45" presetClass="exit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5" presetClass="exit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45" presetClass="exit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2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45" presetClass="exit" presetSubtype="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2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9" grpId="0" animBg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9">
            <a:extLst>
              <a:ext uri="{FF2B5EF4-FFF2-40B4-BE49-F238E27FC236}">
                <a16:creationId xmlns:a16="http://schemas.microsoft.com/office/drawing/2014/main" id="{2632BA4D-ECC8-4004-A450-F16361C7B3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1341437"/>
            <a:ext cx="10937875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C2D15EB4-B6C6-44F8-BF33-6EA7629071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1730297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TITEL, </a:t>
            </a:r>
            <a:r>
              <a:rPr lang="de-DE" dirty="0" err="1"/>
              <a:t>ARIal</a:t>
            </a:r>
            <a:r>
              <a:rPr lang="de-DE" dirty="0"/>
              <a:t> </a:t>
            </a:r>
            <a:r>
              <a:rPr lang="de-DE" dirty="0" err="1"/>
              <a:t>black</a:t>
            </a:r>
            <a:r>
              <a:rPr lang="de-DE" dirty="0"/>
              <a:t>, Versal, 24 </a:t>
            </a:r>
            <a:r>
              <a:rPr lang="de-DE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963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415" userDrawn="1">
          <p15:clr>
            <a:srgbClr val="FBAE40"/>
          </p15:clr>
        </p15:guide>
        <p15:guide id="5" pos="461">
          <p15:clr>
            <a:srgbClr val="FBAE40"/>
          </p15:clr>
        </p15:guide>
        <p15:guide id="6" pos="77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E5363237-72B2-46B1-B2A3-6483E032D7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32A60FC3-BAC6-4CBD-8D26-83346590B2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91288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A4AF7D2-9104-4284-B7C3-77AAF33D79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1730297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TITEL, </a:t>
            </a:r>
            <a:r>
              <a:rPr lang="de-DE" dirty="0" err="1"/>
              <a:t>ARIal</a:t>
            </a:r>
            <a:r>
              <a:rPr lang="de-DE" dirty="0"/>
              <a:t> </a:t>
            </a:r>
            <a:r>
              <a:rPr lang="de-DE" dirty="0" err="1"/>
              <a:t>black</a:t>
            </a:r>
            <a:r>
              <a:rPr lang="de-DE" dirty="0"/>
              <a:t>, Versal, 24 </a:t>
            </a:r>
            <a:r>
              <a:rPr lang="de-DE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2600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3" pos="4089">
          <p15:clr>
            <a:srgbClr val="FBAE40"/>
          </p15:clr>
        </p15:guide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pos="3840">
          <p15:clr>
            <a:srgbClr val="FBAE40"/>
          </p15:clr>
        </p15:guide>
        <p15:guide id="7" pos="415" userDrawn="1">
          <p15:clr>
            <a:srgbClr val="FBAE40"/>
          </p15:clr>
        </p15:guide>
        <p15:guide id="8" pos="46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2EC2443-8338-45D2-BBEB-BC1D6C9E34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1730297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TITEL, </a:t>
            </a:r>
            <a:r>
              <a:rPr lang="de-DE" dirty="0" err="1"/>
              <a:t>ARIal</a:t>
            </a:r>
            <a:r>
              <a:rPr lang="de-DE" dirty="0"/>
              <a:t> </a:t>
            </a:r>
            <a:r>
              <a:rPr lang="de-DE" dirty="0" err="1"/>
              <a:t>black</a:t>
            </a:r>
            <a:r>
              <a:rPr lang="de-DE" dirty="0"/>
              <a:t>, Versal, 24 </a:t>
            </a:r>
            <a:r>
              <a:rPr lang="de-DE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595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FBAE40"/>
          </p15:clr>
        </p15:guide>
        <p15:guide id="2" orient="horz" pos="9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 descr="Ein Bild, das lila, violett, Farbigkeit, Magenta enthält.&#10;&#10;Automatisch generierte Beschreibung">
            <a:extLst>
              <a:ext uri="{FF2B5EF4-FFF2-40B4-BE49-F238E27FC236}">
                <a16:creationId xmlns:a16="http://schemas.microsoft.com/office/drawing/2014/main" id="{66F19046-249B-EF1A-3DDA-705A8BBEC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" y="0"/>
            <a:ext cx="12191029" cy="6858000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D3BC99-1501-9A6E-EA25-76924A43CB4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15079" y="1208309"/>
            <a:ext cx="6212340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Referentenname</a:t>
            </a:r>
          </a:p>
          <a:p>
            <a:pPr lvl="0"/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FE4D742-4AC2-9F56-6B2A-EAFD950DDC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08833" y="151100"/>
            <a:ext cx="11142243" cy="1007559"/>
          </a:xfrm>
          <a:prstGeom prst="rect">
            <a:avLst/>
          </a:prstGeom>
          <a:noFill/>
          <a:effectLst>
            <a:softEdge rad="317500"/>
          </a:effectLst>
        </p:spPr>
        <p:txBody>
          <a:bodyPr anchor="ctr" anchorCtr="0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 eingeben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9D2F814-9087-CD61-B36A-B95223C007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010" y="1565943"/>
            <a:ext cx="6211409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Firma</a:t>
            </a:r>
          </a:p>
          <a:p>
            <a:pPr lvl="0"/>
            <a:endParaRPr lang="de-DE" dirty="0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7C4034C1-35C7-466D-D62B-F7B70733EE48}"/>
              </a:ext>
            </a:extLst>
          </p:cNvPr>
          <p:cNvGrpSpPr/>
          <p:nvPr userDrawn="1"/>
        </p:nvGrpSpPr>
        <p:grpSpPr>
          <a:xfrm>
            <a:off x="9496961" y="4164637"/>
            <a:ext cx="2395002" cy="2395002"/>
            <a:chOff x="9221273" y="3888949"/>
            <a:chExt cx="2670690" cy="267069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226B0B39-3AD2-6FDE-E097-22CEBC60B544}"/>
                </a:ext>
              </a:extLst>
            </p:cNvPr>
            <p:cNvSpPr/>
            <p:nvPr userDrawn="1"/>
          </p:nvSpPr>
          <p:spPr>
            <a:xfrm>
              <a:off x="9221273" y="3888949"/>
              <a:ext cx="2670690" cy="2670690"/>
            </a:xfrm>
            <a:prstGeom prst="rect">
              <a:avLst/>
            </a:prstGeom>
            <a:solidFill>
              <a:schemeClr val="accent3"/>
            </a:solidFill>
            <a:ln w="9525">
              <a:noFill/>
            </a:ln>
            <a:effectLst>
              <a:outerShdw blurRad="127000" sx="102000" sy="102000" algn="ctr" rotWithShape="0">
                <a:schemeClr val="accent6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F1CEC11C-6A23-0979-C4EB-5396D6FE9B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68461" y="4105346"/>
              <a:ext cx="606188" cy="606188"/>
            </a:xfrm>
            <a:prstGeom prst="rect">
              <a:avLst/>
            </a:prstGeom>
          </p:spPr>
        </p:pic>
        <p:pic>
          <p:nvPicPr>
            <p:cNvPr id="28" name="Grafik 27" descr="Ein Bild, das Text, Schrift, Grafiken, Typografie enthält.&#10;&#10;Automatisch generierte Beschreibung">
              <a:extLst>
                <a:ext uri="{FF2B5EF4-FFF2-40B4-BE49-F238E27FC236}">
                  <a16:creationId xmlns:a16="http://schemas.microsoft.com/office/drawing/2014/main" id="{571B35A4-53A8-473D-22D8-089295474D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460"/>
            <a:stretch/>
          </p:blipFill>
          <p:spPr>
            <a:xfrm>
              <a:off x="9414137" y="6177702"/>
              <a:ext cx="2057032" cy="208680"/>
            </a:xfrm>
            <a:prstGeom prst="rect">
              <a:avLst/>
            </a:prstGeom>
          </p:spPr>
        </p:pic>
        <p:pic>
          <p:nvPicPr>
            <p:cNvPr id="5" name="Grafik 4" descr="Ein Bild, das Schrift, Text, Grafiken, Grafikdesign enthält.&#10;&#10;Automatisch generierte Beschreibung">
              <a:extLst>
                <a:ext uri="{FF2B5EF4-FFF2-40B4-BE49-F238E27FC236}">
                  <a16:creationId xmlns:a16="http://schemas.microsoft.com/office/drawing/2014/main" id="{E4E27AA5-CEC1-F5ED-EFCD-5D0395D11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01138" y="5050832"/>
              <a:ext cx="2178493" cy="563243"/>
            </a:xfrm>
            <a:prstGeom prst="rect">
              <a:avLst/>
            </a:prstGeom>
          </p:spPr>
        </p:pic>
        <p:pic>
          <p:nvPicPr>
            <p:cNvPr id="12" name="Grafik 11" descr="Ein Bild, das Text, Schrift, Grafiken, Screenshot enthält.&#10;&#10;Automatisch generierte Beschreibung">
              <a:extLst>
                <a:ext uri="{FF2B5EF4-FFF2-40B4-BE49-F238E27FC236}">
                  <a16:creationId xmlns:a16="http://schemas.microsoft.com/office/drawing/2014/main" id="{5355018B-21E1-7CC1-F2BA-6A8A83AD61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37141" b="64105"/>
            <a:stretch/>
          </p:blipFill>
          <p:spPr>
            <a:xfrm>
              <a:off x="9414137" y="5978822"/>
              <a:ext cx="933738" cy="198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9237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>
          <p15:clr>
            <a:srgbClr val="FBAE40"/>
          </p15:clr>
        </p15:guide>
        <p15:guide id="5" orient="horz" pos="4133">
          <p15:clr>
            <a:srgbClr val="FBAE40"/>
          </p15:clr>
        </p15:guide>
        <p15:guide id="6" orient="horz" pos="2976">
          <p15:clr>
            <a:srgbClr val="FBAE40"/>
          </p15:clr>
        </p15:guide>
        <p15:guide id="7" pos="3840">
          <p15:clr>
            <a:srgbClr val="FBAE40"/>
          </p15:clr>
        </p15:guide>
        <p15:guide id="17" orient="horz" pos="777">
          <p15:clr>
            <a:srgbClr val="FBAE40"/>
          </p15:clr>
        </p15:guide>
        <p15:guide id="18" orient="horz" pos="3566">
          <p15:clr>
            <a:srgbClr val="FBAE40"/>
          </p15:clr>
        </p15:guide>
        <p15:guide id="20" orient="horz" pos="2160">
          <p15:clr>
            <a:srgbClr val="FBAE40"/>
          </p15:clr>
        </p15:guide>
        <p15:guide id="21" pos="393">
          <p15:clr>
            <a:srgbClr val="FBAE40"/>
          </p15:clr>
        </p15:guide>
        <p15:guide id="22" orient="horz" pos="2260">
          <p15:clr>
            <a:srgbClr val="FBAE40"/>
          </p15:clr>
        </p15:guide>
        <p15:guide id="23" orient="horz" pos="686">
          <p15:clr>
            <a:srgbClr val="FBAE40"/>
          </p15:clr>
        </p15:guide>
        <p15:guide id="24" pos="73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Blau, lila, Farbigkeit, Majorelle Blue enthält.&#10;&#10;Automatisch generierte Beschreibung">
            <a:extLst>
              <a:ext uri="{FF2B5EF4-FFF2-40B4-BE49-F238E27FC236}">
                <a16:creationId xmlns:a16="http://schemas.microsoft.com/office/drawing/2014/main" id="{B5F771AC-2A63-986B-2B5A-C3730D8B33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2" r="163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B4F0257-AE55-0D86-3195-883F1BEEC5E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9" y="152400"/>
            <a:ext cx="7527924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Inhaltsverzeichnis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0843323-B0B3-DE77-003D-7A80E68698FB}"/>
              </a:ext>
            </a:extLst>
          </p:cNvPr>
          <p:cNvSpPr txBox="1">
            <a:spLocks/>
          </p:cNvSpPr>
          <p:nvPr userDrawn="1"/>
        </p:nvSpPr>
        <p:spPr>
          <a:xfrm>
            <a:off x="423974" y="6430711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© DSAG | Seite </a:t>
            </a:r>
            <a:fld id="{DA91E406-5084-3248-8911-C7B8CABF8078}" type="slidenum"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pPr algn="l"/>
              <a:t>‹#›</a:t>
            </a:fld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 | </a:t>
            </a:r>
            <a:fld id="{F7A57CAC-9BE6-984A-ACA0-6397C7AD78FB}" type="datetime4">
              <a:rPr lang="de-DE" sz="900" b="0" i="0" smtClean="0">
                <a:solidFill>
                  <a:schemeClr val="bg1"/>
                </a:solidFill>
                <a:latin typeface="+mn-lt"/>
                <a:cs typeface="Helvetica Light"/>
              </a:rPr>
              <a:pPr algn="l"/>
              <a:t>9. April 2025</a:t>
            </a:fld>
            <a:endParaRPr lang="de-DE" sz="900" b="0" i="0" dirty="0">
              <a:solidFill>
                <a:schemeClr val="bg1"/>
              </a:solidFill>
              <a:latin typeface="+mn-lt"/>
              <a:cs typeface="Helvetica Light"/>
            </a:endParaRPr>
          </a:p>
        </p:txBody>
      </p:sp>
      <p:sp>
        <p:nvSpPr>
          <p:cNvPr id="59" name="Textplatzhalter 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31838" y="1514466"/>
            <a:ext cx="7312025" cy="4654550"/>
          </a:xfrm>
          <a:prstGeom prst="rect">
            <a:avLst/>
          </a:prstGeom>
        </p:spPr>
        <p:txBody>
          <a:bodyPr/>
          <a:lstStyle>
            <a:lvl1pPr marL="457200" marR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marL="457200" marR="0" lvl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/>
            </a:pPr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marL="457200" marR="0" lvl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/>
            </a:pPr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marL="457200" marR="0" lvl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/>
            </a:pPr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marL="457200" marR="0" lvl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/>
            </a:pPr>
            <a:r>
              <a:rPr lang="de-DE" dirty="0"/>
              <a:t>Thema, Arial, 22 </a:t>
            </a:r>
            <a:r>
              <a:rPr lang="de-DE" dirty="0" err="1"/>
              <a:t>pt</a:t>
            </a:r>
            <a:endParaRPr lang="de-DE" dirty="0"/>
          </a:p>
          <a:p>
            <a:pPr lvl="0"/>
            <a:endParaRPr lang="de-DE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1553D856-750F-D391-E3A3-D60FD24F13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0672" y="6111316"/>
            <a:ext cx="569256" cy="544403"/>
          </a:xfrm>
          <a:prstGeom prst="rect">
            <a:avLst/>
          </a:prstGeom>
        </p:spPr>
      </p:pic>
      <p:pic>
        <p:nvPicPr>
          <p:cNvPr id="3" name="Grafik 2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01A59D5A-6691-3073-F2D8-4D917697A49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278" y="6276671"/>
            <a:ext cx="2416413" cy="4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16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pos="710">
          <p15:clr>
            <a:srgbClr val="FBAE40"/>
          </p15:clr>
        </p15:guide>
        <p15:guide id="7" pos="393">
          <p15:clr>
            <a:srgbClr val="FBAE40"/>
          </p15:clr>
        </p15:guide>
        <p15:guide id="8" pos="461">
          <p15:clr>
            <a:srgbClr val="FBAE40"/>
          </p15:clr>
        </p15:guide>
        <p15:guide id="9" pos="749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Blau, lila, Farbigkeit, Majorelle Blue enthält.&#10;&#10;Automatisch generierte Beschreibung">
            <a:extLst>
              <a:ext uri="{FF2B5EF4-FFF2-40B4-BE49-F238E27FC236}">
                <a16:creationId xmlns:a16="http://schemas.microsoft.com/office/drawing/2014/main" id="{88330F02-C1CB-77BD-B447-427F647838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2" r="163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B0682D9-9D13-DF4B-2908-F47498D3F1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0672" y="6111316"/>
            <a:ext cx="569256" cy="544403"/>
          </a:xfrm>
          <a:prstGeom prst="rect">
            <a:avLst/>
          </a:prstGeom>
        </p:spPr>
      </p:pic>
      <p:pic>
        <p:nvPicPr>
          <p:cNvPr id="8" name="Grafik 7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91016DF5-FE3A-1E8E-AA96-97ECF9CA46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278" y="6276671"/>
            <a:ext cx="2416413" cy="4335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7EB6490-9888-E350-A4B9-93E9D102FC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0672" y="6111316"/>
            <a:ext cx="569256" cy="544403"/>
          </a:xfrm>
          <a:prstGeom prst="rect">
            <a:avLst/>
          </a:prstGeom>
        </p:spPr>
      </p:pic>
      <p:sp>
        <p:nvSpPr>
          <p:cNvPr id="59" name="Textplatzhalter 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31838" y="2079408"/>
            <a:ext cx="7402511" cy="1610011"/>
          </a:xfrm>
          <a:prstGeom prst="rect">
            <a:avLst/>
          </a:prstGeom>
          <a:ln w="28575">
            <a:noFill/>
          </a:ln>
        </p:spPr>
        <p:txBody>
          <a:bodyPr wrap="square" lIns="90000" tIns="180000" rIns="90000" bIns="180000">
            <a:spAutoFit/>
          </a:bodyPr>
          <a:lstStyle>
            <a:lvl1pPr marL="0" marR="0" indent="0" algn="l" defTabSz="916494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30000"/>
              </a:spcAft>
              <a:buClr>
                <a:schemeClr val="accent1"/>
              </a:buClr>
              <a:buSzTx/>
              <a:buFont typeface="+mj-lt"/>
              <a:buNone/>
              <a:tabLst/>
              <a:defRPr sz="3000" b="0">
                <a:solidFill>
                  <a:schemeClr val="bg1"/>
                </a:solidFill>
                <a:latin typeface="+mj-lt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r>
              <a:rPr lang="de-DE" dirty="0"/>
              <a:t>Thema, Arial Black, 30 </a:t>
            </a:r>
            <a:r>
              <a:rPr lang="de-DE" dirty="0" err="1"/>
              <a:t>pt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F00CDABE-5B67-1FF1-3374-54884A10CB0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8" y="152400"/>
            <a:ext cx="7569545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3819C7CA-109D-3CE6-A1CD-30DCE3133882}"/>
              </a:ext>
            </a:extLst>
          </p:cNvPr>
          <p:cNvSpPr txBox="1">
            <a:spLocks/>
          </p:cNvSpPr>
          <p:nvPr userDrawn="1"/>
        </p:nvSpPr>
        <p:spPr>
          <a:xfrm>
            <a:off x="423974" y="6430711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© DSAG | Seite </a:t>
            </a:r>
            <a:fld id="{DA91E406-5084-3248-8911-C7B8CABF8078}" type="slidenum"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pPr algn="l"/>
              <a:t>‹#›</a:t>
            </a:fld>
            <a:r>
              <a:rPr lang="de-DE" sz="900" b="0" i="0" dirty="0">
                <a:solidFill>
                  <a:schemeClr val="bg1"/>
                </a:solidFill>
                <a:latin typeface="+mn-lt"/>
                <a:cs typeface="Helvetica Light"/>
              </a:rPr>
              <a:t> | </a:t>
            </a:r>
            <a:fld id="{F7A57CAC-9BE6-984A-ACA0-6397C7AD78FB}" type="datetime4">
              <a:rPr lang="de-DE" sz="900" b="0" i="0" smtClean="0">
                <a:solidFill>
                  <a:schemeClr val="bg1"/>
                </a:solidFill>
                <a:latin typeface="+mn-lt"/>
                <a:cs typeface="Helvetica Light"/>
              </a:rPr>
              <a:pPr algn="l"/>
              <a:t>9. April 2025</a:t>
            </a:fld>
            <a:endParaRPr lang="de-DE" sz="900" b="0" i="0" dirty="0">
              <a:solidFill>
                <a:schemeClr val="bg1"/>
              </a:solidFill>
              <a:latin typeface="+mn-l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539107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8" orient="horz" pos="96">
          <p15:clr>
            <a:srgbClr val="FBAE40"/>
          </p15:clr>
        </p15:guide>
        <p15:guide id="9" pos="461">
          <p15:clr>
            <a:srgbClr val="FBAE40"/>
          </p15:clr>
        </p15:guide>
        <p15:guide id="10" pos="393">
          <p15:clr>
            <a:srgbClr val="FBAE40"/>
          </p15:clr>
        </p15:guide>
        <p15:guide id="11" pos="710">
          <p15:clr>
            <a:srgbClr val="FBAE40"/>
          </p15:clr>
        </p15:guide>
        <p15:guide id="12" orient="horz" pos="66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9">
            <a:extLst>
              <a:ext uri="{FF2B5EF4-FFF2-40B4-BE49-F238E27FC236}">
                <a16:creationId xmlns:a16="http://schemas.microsoft.com/office/drawing/2014/main" id="{2632BA4D-ECC8-4004-A450-F16361C7B3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1341437"/>
            <a:ext cx="10937875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C2D15EB4-B6C6-44F8-BF33-6EA7629071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1730297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TITEL, </a:t>
            </a:r>
            <a:r>
              <a:rPr lang="de-DE" dirty="0" err="1"/>
              <a:t>ARIal</a:t>
            </a:r>
            <a:r>
              <a:rPr lang="de-DE" dirty="0"/>
              <a:t> </a:t>
            </a:r>
            <a:r>
              <a:rPr lang="de-DE" dirty="0" err="1"/>
              <a:t>black</a:t>
            </a:r>
            <a:r>
              <a:rPr lang="de-DE" dirty="0"/>
              <a:t>, Versal, 24 </a:t>
            </a:r>
            <a:r>
              <a:rPr lang="de-DE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655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415">
          <p15:clr>
            <a:srgbClr val="FBAE40"/>
          </p15:clr>
        </p15:guide>
        <p15:guide id="5" pos="461">
          <p15:clr>
            <a:srgbClr val="FBAE40"/>
          </p15:clr>
        </p15:guide>
        <p15:guide id="6" pos="77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E5363237-72B2-46B1-B2A3-6483E032D7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32A60FC3-BAC6-4CBD-8D26-83346590B2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91288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A4AF7D2-9104-4284-B7C3-77AAF33D79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1730297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TITEL, </a:t>
            </a:r>
            <a:r>
              <a:rPr lang="de-DE" dirty="0" err="1"/>
              <a:t>ARIal</a:t>
            </a:r>
            <a:r>
              <a:rPr lang="de-DE" dirty="0"/>
              <a:t> </a:t>
            </a:r>
            <a:r>
              <a:rPr lang="de-DE" dirty="0" err="1"/>
              <a:t>black</a:t>
            </a:r>
            <a:r>
              <a:rPr lang="de-DE" dirty="0"/>
              <a:t>, Versal, 24 </a:t>
            </a:r>
            <a:r>
              <a:rPr lang="de-DE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2574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3" pos="4089">
          <p15:clr>
            <a:srgbClr val="FBAE40"/>
          </p15:clr>
        </p15:guide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pos="3840">
          <p15:clr>
            <a:srgbClr val="FBAE40"/>
          </p15:clr>
        </p15:guide>
        <p15:guide id="7" pos="415">
          <p15:clr>
            <a:srgbClr val="FBAE40"/>
          </p15:clr>
        </p15:guide>
        <p15:guide id="8" pos="46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2EC2443-8338-45D2-BBEB-BC1D6C9E34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1730297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TITEL, </a:t>
            </a:r>
            <a:r>
              <a:rPr lang="de-DE" dirty="0" err="1"/>
              <a:t>ARIal</a:t>
            </a:r>
            <a:r>
              <a:rPr lang="de-DE" dirty="0"/>
              <a:t> </a:t>
            </a:r>
            <a:r>
              <a:rPr lang="de-DE" dirty="0" err="1"/>
              <a:t>black</a:t>
            </a:r>
            <a:r>
              <a:rPr lang="de-DE" dirty="0"/>
              <a:t>, Versal, 24 </a:t>
            </a:r>
            <a:r>
              <a:rPr lang="de-DE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029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2" orient="horz" pos="9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-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954AEA29-FD98-FD45-860E-07D63F50FFE1}"/>
              </a:ext>
            </a:extLst>
          </p:cNvPr>
          <p:cNvSpPr/>
          <p:nvPr userDrawn="1"/>
        </p:nvSpPr>
        <p:spPr>
          <a:xfrm>
            <a:off x="1" y="0"/>
            <a:ext cx="335665" cy="685958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1033200" y="1425600"/>
            <a:ext cx="8622612" cy="1990800"/>
          </a:xfrm>
        </p:spPr>
        <p:txBody>
          <a:bodyPr lIns="90000" rIns="90000" anchor="b" anchorCtr="0">
            <a:normAutofit/>
          </a:bodyPr>
          <a:lstStyle>
            <a:lvl1pPr>
              <a:spcBef>
                <a:spcPts val="0"/>
              </a:spcBef>
              <a:defRPr sz="6600" b="1" u="sng" baseline="0">
                <a:uFill>
                  <a:solidFill>
                    <a:srgbClr val="EB5C3F"/>
                  </a:solidFill>
                </a:uFill>
                <a:latin typeface="+mj-lt"/>
              </a:defRPr>
            </a:lvl1pPr>
          </a:lstStyle>
          <a:p>
            <a:r>
              <a:rPr lang="de-DE" dirty="0">
                <a:uFill>
                  <a:solidFill>
                    <a:schemeClr val="accent2"/>
                  </a:solidFill>
                </a:uFill>
              </a:rPr>
              <a:t>Präsentationstitel  zweizeilig</a:t>
            </a:r>
          </a:p>
        </p:txBody>
      </p:sp>
      <p:sp>
        <p:nvSpPr>
          <p:cNvPr id="19" name="Textplatzhalt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1111250" y="3543300"/>
            <a:ext cx="8545513" cy="808038"/>
          </a:xfrm>
        </p:spPr>
        <p:txBody>
          <a:bodyPr lIns="0" tIns="0" rIns="72000" bIns="0" anchor="ctr" anchorCtr="0">
            <a:normAutofit/>
          </a:bodyPr>
          <a:lstStyle>
            <a:lvl1pPr>
              <a:defRPr sz="2000">
                <a:solidFill>
                  <a:srgbClr val="00B3C4"/>
                </a:solidFill>
              </a:defRPr>
            </a:lvl1pPr>
          </a:lstStyle>
          <a:p>
            <a:pPr lvl="0"/>
            <a:r>
              <a:rPr lang="de-DE" dirty="0"/>
              <a:t>Referentenname, Funktion, Unternehmen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210A3B8-BFEE-D54A-AA7F-88B45F6DD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8059" y="5538650"/>
            <a:ext cx="909563" cy="90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41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B68A23E-BF51-6B0F-B91A-318B0223F0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7"/>
          <a:stretch/>
        </p:blipFill>
        <p:spPr>
          <a:xfrm>
            <a:off x="-3" y="0"/>
            <a:ext cx="12192000" cy="981075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DAC994D6-17AA-4DD3-91B8-71D231AE3A90}"/>
              </a:ext>
            </a:extLst>
          </p:cNvPr>
          <p:cNvSpPr txBox="1">
            <a:spLocks/>
          </p:cNvSpPr>
          <p:nvPr userDrawn="1"/>
        </p:nvSpPr>
        <p:spPr>
          <a:xfrm>
            <a:off x="423974" y="6430711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 dirty="0">
                <a:solidFill>
                  <a:schemeClr val="accent1"/>
                </a:solidFill>
                <a:latin typeface="+mn-lt"/>
                <a:cs typeface="Helvetica Light"/>
              </a:rPr>
              <a:t>© DSAG | Seite </a:t>
            </a:r>
            <a:fld id="{DA91E406-5084-3248-8911-C7B8CABF8078}" type="slidenum">
              <a:rPr lang="de-DE" sz="900" b="0" i="0" dirty="0">
                <a:solidFill>
                  <a:schemeClr val="accent1"/>
                </a:solidFill>
                <a:latin typeface="+mn-lt"/>
                <a:cs typeface="Helvetica Light"/>
              </a:rPr>
              <a:pPr algn="l"/>
              <a:t>‹#›</a:t>
            </a:fld>
            <a:r>
              <a:rPr lang="de-DE" sz="900" b="0" i="0" dirty="0">
                <a:solidFill>
                  <a:schemeClr val="accent1"/>
                </a:solidFill>
                <a:latin typeface="+mn-lt"/>
                <a:cs typeface="Helvetica Light"/>
              </a:rPr>
              <a:t> | </a:t>
            </a:r>
            <a:fld id="{F7A57CAC-9BE6-984A-ACA0-6397C7AD78FB}" type="datetime4">
              <a:rPr lang="de-DE" sz="900" b="0" i="0" smtClean="0">
                <a:solidFill>
                  <a:schemeClr val="accent1"/>
                </a:solidFill>
                <a:latin typeface="+mn-lt"/>
                <a:cs typeface="Helvetica Light"/>
              </a:rPr>
              <a:pPr algn="l"/>
              <a:t>9. April 2025</a:t>
            </a:fld>
            <a:endParaRPr lang="de-DE" sz="900" b="0" i="0" dirty="0">
              <a:solidFill>
                <a:schemeClr val="accent1"/>
              </a:solidFill>
              <a:latin typeface="+mn-lt"/>
              <a:cs typeface="Helvetica Light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99C4D63-C98D-CC7E-0263-A1019884D4A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885" y="6121758"/>
            <a:ext cx="479069" cy="47906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B66C2E4-12DE-09CC-6736-6D3D4FD451C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214" y="1007927"/>
            <a:ext cx="2042330" cy="19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92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87" r:id="rId2"/>
    <p:sldLayoutId id="2147483688" r:id="rId3"/>
    <p:sldLayoutId id="2147483711" r:id="rId4"/>
    <p:sldLayoutId id="2147483703" r:id="rId5"/>
    <p:sldLayoutId id="2147483704" r:id="rId6"/>
    <p:sldLayoutId id="2147483679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9pPr>
    </p:titleStyle>
    <p:bodyStyle>
      <a:lvl1pPr marL="457189" indent="-457189" algn="l" defTabSz="916494" rtl="0" eaLnBrk="1" fontAlgn="base" hangingPunct="1">
        <a:spcBef>
          <a:spcPct val="40000"/>
        </a:spcBef>
        <a:spcAft>
          <a:spcPct val="30000"/>
        </a:spcAft>
        <a:buClr>
          <a:srgbClr val="00608C"/>
        </a:buClr>
        <a:buFont typeface="Wingdings" pitchFamily="2" charset="2"/>
        <a:defRPr sz="2400" b="1">
          <a:solidFill>
            <a:srgbClr val="292929"/>
          </a:solidFill>
          <a:latin typeface="+mn-lt"/>
          <a:ea typeface="+mn-ea"/>
          <a:cs typeface="+mn-cs"/>
        </a:defRPr>
      </a:lvl1pPr>
      <a:lvl2pPr marL="482588" indent="-239178" algn="l" defTabSz="916494" rtl="0" eaLnBrk="1" fontAlgn="base" hangingPunct="1">
        <a:spcBef>
          <a:spcPct val="0"/>
        </a:spcBef>
        <a:spcAft>
          <a:spcPct val="40000"/>
        </a:spcAft>
        <a:buClr>
          <a:schemeClr val="accent2"/>
        </a:buClr>
        <a:buSzPct val="100000"/>
        <a:buFont typeface="Arial" panose="020B0604020202020204" pitchFamily="34" charset="0"/>
        <a:buChar char="&gt;"/>
        <a:defRPr sz="2133">
          <a:solidFill>
            <a:srgbClr val="292929"/>
          </a:solidFill>
          <a:latin typeface="+mn-lt"/>
        </a:defRPr>
      </a:lvl2pPr>
      <a:lvl3pPr marL="956709" indent="-237061" algn="l" defTabSz="916494" rtl="0" eaLnBrk="1" fontAlgn="base" hangingPunct="1">
        <a:spcBef>
          <a:spcPct val="0"/>
        </a:spcBef>
        <a:spcAft>
          <a:spcPct val="50000"/>
        </a:spcAft>
        <a:buClr>
          <a:schemeClr val="tx2">
            <a:lumMod val="50000"/>
          </a:schemeClr>
        </a:buClr>
        <a:buSzPct val="120000"/>
        <a:buFont typeface="Arial" panose="020B0604020202020204" pitchFamily="34" charset="0"/>
        <a:buChar char="•"/>
        <a:defRPr sz="1867">
          <a:solidFill>
            <a:srgbClr val="292929"/>
          </a:solidFill>
          <a:latin typeface="+mn-lt"/>
        </a:defRPr>
      </a:lvl3pPr>
      <a:lvl4pPr marL="235790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974940"/>
        </a:buClr>
        <a:buFont typeface="Wingdings" pitchFamily="2" charset="2"/>
        <a:buChar char="l"/>
        <a:defRPr sz="2133">
          <a:solidFill>
            <a:srgbClr val="292929"/>
          </a:solidFill>
          <a:latin typeface="+mn-lt"/>
        </a:defRPr>
      </a:lvl4pPr>
      <a:lvl5pPr marL="297384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5pPr>
      <a:lvl6pPr marL="358342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6pPr>
      <a:lvl7pPr marL="419301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7pPr>
      <a:lvl8pPr marL="4802597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8pPr>
      <a:lvl9pPr marL="5412182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4201" userDrawn="1">
          <p15:clr>
            <a:srgbClr val="F26B43"/>
          </p15:clr>
        </p15:guide>
        <p15:guide id="11" orient="horz" pos="845" userDrawn="1">
          <p15:clr>
            <a:srgbClr val="F26B43"/>
          </p15:clr>
        </p15:guide>
        <p15:guide id="13" orient="horz" userDrawn="1">
          <p15:clr>
            <a:srgbClr val="F26B43"/>
          </p15:clr>
        </p15:guide>
        <p15:guide id="14" pos="325" userDrawn="1">
          <p15:clr>
            <a:srgbClr val="F26B43"/>
          </p15:clr>
        </p15:guide>
        <p15:guide id="15" pos="7378" userDrawn="1">
          <p15:clr>
            <a:srgbClr val="F26B43"/>
          </p15:clr>
        </p15:guide>
        <p15:guide id="16" orient="horz" pos="3997" userDrawn="1">
          <p15:clr>
            <a:srgbClr val="F26B43"/>
          </p15:clr>
        </p15:guide>
        <p15:guide id="17" orient="horz" pos="61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6C845205-7612-649C-CECE-30BF1C8A4E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1" b="3744"/>
          <a:stretch/>
        </p:blipFill>
        <p:spPr>
          <a:xfrm>
            <a:off x="0" y="0"/>
            <a:ext cx="12192001" cy="981075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DAC994D6-17AA-4DD3-91B8-71D231AE3A90}"/>
              </a:ext>
            </a:extLst>
          </p:cNvPr>
          <p:cNvSpPr txBox="1">
            <a:spLocks/>
          </p:cNvSpPr>
          <p:nvPr userDrawn="1"/>
        </p:nvSpPr>
        <p:spPr>
          <a:xfrm>
            <a:off x="423974" y="6430711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 dirty="0">
                <a:solidFill>
                  <a:schemeClr val="accent1"/>
                </a:solidFill>
                <a:latin typeface="+mn-lt"/>
                <a:cs typeface="Helvetica Light"/>
              </a:rPr>
              <a:t>© DSAG | Seite </a:t>
            </a:r>
            <a:fld id="{DA91E406-5084-3248-8911-C7B8CABF8078}" type="slidenum">
              <a:rPr lang="de-DE" sz="900" b="0" i="0" dirty="0">
                <a:solidFill>
                  <a:schemeClr val="accent1"/>
                </a:solidFill>
                <a:latin typeface="+mn-lt"/>
                <a:cs typeface="Helvetica Light"/>
              </a:rPr>
              <a:pPr algn="l"/>
              <a:t>‹#›</a:t>
            </a:fld>
            <a:r>
              <a:rPr lang="de-DE" sz="900" b="0" i="0" dirty="0">
                <a:solidFill>
                  <a:schemeClr val="accent1"/>
                </a:solidFill>
                <a:latin typeface="+mn-lt"/>
                <a:cs typeface="Helvetica Light"/>
              </a:rPr>
              <a:t> | </a:t>
            </a:r>
            <a:fld id="{F7A57CAC-9BE6-984A-ACA0-6397C7AD78FB}" type="datetime4">
              <a:rPr lang="de-DE" sz="900" b="0" i="0" smtClean="0">
                <a:solidFill>
                  <a:schemeClr val="accent1"/>
                </a:solidFill>
                <a:latin typeface="+mn-lt"/>
                <a:cs typeface="Helvetica Light"/>
              </a:rPr>
              <a:pPr algn="l"/>
              <a:t>9. April 2025</a:t>
            </a:fld>
            <a:endParaRPr lang="de-DE" sz="900" b="0" i="0" dirty="0">
              <a:solidFill>
                <a:schemeClr val="accent1"/>
              </a:solidFill>
              <a:latin typeface="+mn-lt"/>
              <a:cs typeface="Helvetica Light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99C4D63-C98D-CC7E-0263-A1019884D4A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885" y="6121758"/>
            <a:ext cx="479069" cy="47906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1B57B48-D95D-7920-1C8B-463926DE9EA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288" y="986148"/>
            <a:ext cx="1808967" cy="38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2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9pPr>
    </p:titleStyle>
    <p:bodyStyle>
      <a:lvl1pPr marL="457189" indent="-457189" algn="l" defTabSz="916494" rtl="0" eaLnBrk="1" fontAlgn="base" hangingPunct="1">
        <a:spcBef>
          <a:spcPct val="40000"/>
        </a:spcBef>
        <a:spcAft>
          <a:spcPct val="30000"/>
        </a:spcAft>
        <a:buClr>
          <a:srgbClr val="00608C"/>
        </a:buClr>
        <a:buFont typeface="Wingdings" pitchFamily="2" charset="2"/>
        <a:defRPr sz="2400" b="1">
          <a:solidFill>
            <a:srgbClr val="292929"/>
          </a:solidFill>
          <a:latin typeface="+mn-lt"/>
          <a:ea typeface="+mn-ea"/>
          <a:cs typeface="+mn-cs"/>
        </a:defRPr>
      </a:lvl1pPr>
      <a:lvl2pPr marL="482588" indent="-239178" algn="l" defTabSz="916494" rtl="0" eaLnBrk="1" fontAlgn="base" hangingPunct="1">
        <a:spcBef>
          <a:spcPct val="0"/>
        </a:spcBef>
        <a:spcAft>
          <a:spcPct val="40000"/>
        </a:spcAft>
        <a:buClr>
          <a:schemeClr val="accent2"/>
        </a:buClr>
        <a:buSzPct val="100000"/>
        <a:buFont typeface="Arial" panose="020B0604020202020204" pitchFamily="34" charset="0"/>
        <a:buChar char="&gt;"/>
        <a:defRPr sz="2133">
          <a:solidFill>
            <a:srgbClr val="292929"/>
          </a:solidFill>
          <a:latin typeface="+mn-lt"/>
        </a:defRPr>
      </a:lvl2pPr>
      <a:lvl3pPr marL="956709" indent="-237061" algn="l" defTabSz="916494" rtl="0" eaLnBrk="1" fontAlgn="base" hangingPunct="1">
        <a:spcBef>
          <a:spcPct val="0"/>
        </a:spcBef>
        <a:spcAft>
          <a:spcPct val="50000"/>
        </a:spcAft>
        <a:buClr>
          <a:schemeClr val="tx2">
            <a:lumMod val="50000"/>
          </a:schemeClr>
        </a:buClr>
        <a:buSzPct val="120000"/>
        <a:buFont typeface="Arial" panose="020B0604020202020204" pitchFamily="34" charset="0"/>
        <a:buChar char="•"/>
        <a:defRPr sz="1867">
          <a:solidFill>
            <a:srgbClr val="292929"/>
          </a:solidFill>
          <a:latin typeface="+mn-lt"/>
        </a:defRPr>
      </a:lvl3pPr>
      <a:lvl4pPr marL="235790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974940"/>
        </a:buClr>
        <a:buFont typeface="Wingdings" pitchFamily="2" charset="2"/>
        <a:buChar char="l"/>
        <a:defRPr sz="2133">
          <a:solidFill>
            <a:srgbClr val="292929"/>
          </a:solidFill>
          <a:latin typeface="+mn-lt"/>
        </a:defRPr>
      </a:lvl4pPr>
      <a:lvl5pPr marL="297384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5pPr>
      <a:lvl6pPr marL="358342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6pPr>
      <a:lvl7pPr marL="419301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7pPr>
      <a:lvl8pPr marL="4802597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8pPr>
      <a:lvl9pPr marL="5412182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4201">
          <p15:clr>
            <a:srgbClr val="F26B43"/>
          </p15:clr>
        </p15:guide>
        <p15:guide id="11" orient="horz" pos="845">
          <p15:clr>
            <a:srgbClr val="F26B43"/>
          </p15:clr>
        </p15:guide>
        <p15:guide id="13" orient="horz">
          <p15:clr>
            <a:srgbClr val="F26B43"/>
          </p15:clr>
        </p15:guide>
        <p15:guide id="14" pos="325">
          <p15:clr>
            <a:srgbClr val="F26B43"/>
          </p15:clr>
        </p15:guide>
        <p15:guide id="15" pos="7378">
          <p15:clr>
            <a:srgbClr val="F26B43"/>
          </p15:clr>
        </p15:guide>
        <p15:guide id="16" orient="horz" pos="3997">
          <p15:clr>
            <a:srgbClr val="F26B43"/>
          </p15:clr>
        </p15:guide>
        <p15:guide id="17" orient="horz" pos="61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bsi.bund.de/SharedDocs/Downloads/EN/BSI/Publications/Securitysituation/IT-Security-Situation-in-Germany-2024.pdf?__blob=publicationFile&amp;v=7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hyperlink" Target="https://www.microsoft.com/en-us/security/blog/2024/06/26/mitigating-skeleton-key-a-new-type-of-generative-ai-jailbreak-technique/" TargetMode="External"/><Relationship Id="rId7" Type="http://schemas.openxmlformats.org/officeDocument/2006/relationships/image" Target="../media/image41.png"/><Relationship Id="rId2" Type="http://schemas.openxmlformats.org/officeDocument/2006/relationships/hyperlink" Target="https://crescendo-the-multiturn-jailbreak.github.io/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hyperlink" Target="https://ki-techlab.de/ki-news/llm-refusal-training-easily-bypassed-with-past-tense-prompts/" TargetMode="External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ka.ms/dsag-tt-24-microsoft" TargetMode="Externa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martin.pankraz@microsoft.com" TargetMode="External"/><Relationship Id="rId7" Type="http://schemas.openxmlformats.org/officeDocument/2006/relationships/image" Target="../media/image49.jpeg"/><Relationship Id="rId2" Type="http://schemas.openxmlformats.org/officeDocument/2006/relationships/hyperlink" Target="mailto:Holger.bruchelt@microsoft.com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5" Type="http://schemas.openxmlformats.org/officeDocument/2006/relationships/hyperlink" Target="https://www.linkedin.com/in/holger-bruchelt/" TargetMode="External"/><Relationship Id="rId4" Type="http://schemas.openxmlformats.org/officeDocument/2006/relationships/hyperlink" Target="https://www.linkedin.com/in/martin-pankraz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security/security-insider/intelligence-reports/microsoft-digital-defense-report-2024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sag.de/events/techtage25/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sag.de/events/techxchange25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artoon of two people fighting&#10;&#10;Description automatically generated">
            <a:extLst>
              <a:ext uri="{FF2B5EF4-FFF2-40B4-BE49-F238E27FC236}">
                <a16:creationId xmlns:a16="http://schemas.microsoft.com/office/drawing/2014/main" id="{38DED872-521C-38E6-398E-E2693D8D9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69C770-132E-1087-2BAE-17F801ECB31A}"/>
              </a:ext>
            </a:extLst>
          </p:cNvPr>
          <p:cNvSpPr txBox="1"/>
          <p:nvPr/>
        </p:nvSpPr>
        <p:spPr>
          <a:xfrm>
            <a:off x="414259" y="3182718"/>
            <a:ext cx="208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rgbClr val="FF0000"/>
                </a:solidFill>
              </a:rPr>
              <a:t>Red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team</a:t>
            </a:r>
            <a:endParaRPr lang="en-DE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5A129-4468-800B-8B51-E106C6A43D6B}"/>
              </a:ext>
            </a:extLst>
          </p:cNvPr>
          <p:cNvSpPr txBox="1"/>
          <p:nvPr/>
        </p:nvSpPr>
        <p:spPr>
          <a:xfrm>
            <a:off x="9796542" y="3259723"/>
            <a:ext cx="208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3"/>
                </a:solidFill>
              </a:rPr>
              <a:t>Blue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team</a:t>
            </a:r>
            <a:endParaRPr lang="en-DE" dirty="0">
              <a:solidFill>
                <a:srgbClr val="00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00B963-2D22-9C42-F761-95F1E964D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438" y="2957869"/>
            <a:ext cx="1294979" cy="6404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17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EA2B68B-07B8-B28C-5ABB-F5B8E1508B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52400"/>
            <a:ext cx="11528279" cy="685800"/>
          </a:xfrm>
        </p:spPr>
        <p:txBody>
          <a:bodyPr/>
          <a:lstStyle/>
          <a:p>
            <a:pPr algn="ctr"/>
            <a:r>
              <a:rPr lang="de-DE" b="1" cap="none" dirty="0">
                <a:latin typeface="+mn-lt"/>
              </a:rPr>
              <a:t>SAP Hacker </a:t>
            </a:r>
            <a:r>
              <a:rPr lang="de-DE" b="1" cap="none" dirty="0" err="1">
                <a:latin typeface="+mn-lt"/>
              </a:rPr>
              <a:t>for</a:t>
            </a:r>
            <a:r>
              <a:rPr lang="de-DE" b="1" cap="none" dirty="0">
                <a:latin typeface="+mn-lt"/>
              </a:rPr>
              <a:t> a </a:t>
            </a:r>
            <a:r>
              <a:rPr lang="de-DE" b="1" cap="none" dirty="0" err="1">
                <a:latin typeface="+mn-lt"/>
              </a:rPr>
              <a:t>day</a:t>
            </a:r>
            <a:r>
              <a:rPr lang="de-DE" b="1" cap="none" dirty="0">
                <a:latin typeface="+mn-lt"/>
              </a:rPr>
              <a:t> – Welcome </a:t>
            </a:r>
            <a:r>
              <a:rPr lang="de-DE" b="1" cap="none" dirty="0" err="1">
                <a:solidFill>
                  <a:srgbClr val="C00000"/>
                </a:solidFill>
                <a:latin typeface="+mn-lt"/>
              </a:rPr>
              <a:t>Red</a:t>
            </a:r>
            <a:r>
              <a:rPr lang="de-DE" b="1" cap="none" dirty="0">
                <a:solidFill>
                  <a:srgbClr val="C00000"/>
                </a:solidFill>
                <a:latin typeface="+mn-lt"/>
              </a:rPr>
              <a:t> </a:t>
            </a:r>
            <a:r>
              <a:rPr lang="de-DE" b="1" cap="none" dirty="0" err="1">
                <a:solidFill>
                  <a:srgbClr val="C00000"/>
                </a:solidFill>
                <a:latin typeface="+mn-lt"/>
              </a:rPr>
              <a:t>Team</a:t>
            </a:r>
            <a:r>
              <a:rPr lang="de-DE" b="1" cap="none" dirty="0" err="1">
                <a:latin typeface="+mn-lt"/>
              </a:rPr>
              <a:t>‘ers</a:t>
            </a:r>
            <a:endParaRPr lang="de-DE" b="1" cap="none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09A3A-BD2F-710E-D890-E37E2B4A2525}"/>
              </a:ext>
            </a:extLst>
          </p:cNvPr>
          <p:cNvSpPr txBox="1"/>
          <p:nvPr/>
        </p:nvSpPr>
        <p:spPr>
          <a:xfrm>
            <a:off x="360218" y="1263073"/>
            <a:ext cx="7721600" cy="458587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de-DE" sz="2000" dirty="0">
                <a:solidFill>
                  <a:srgbClr val="000000"/>
                </a:solidFill>
              </a:rPr>
              <a:t>Agenda</a:t>
            </a:r>
          </a:p>
          <a:p>
            <a:pPr algn="l"/>
            <a:endParaRPr lang="de-DE" dirty="0">
              <a:solidFill>
                <a:srgbClr val="000000"/>
              </a:solidFill>
            </a:endParaRPr>
          </a:p>
          <a:p>
            <a:pPr algn="l"/>
            <a:r>
              <a:rPr lang="de-DE" dirty="0">
                <a:solidFill>
                  <a:srgbClr val="000000"/>
                </a:solidFill>
              </a:rPr>
              <a:t>09:00  Warm </a:t>
            </a:r>
            <a:r>
              <a:rPr lang="de-DE" dirty="0" err="1">
                <a:solidFill>
                  <a:srgbClr val="000000"/>
                </a:solidFill>
              </a:rPr>
              <a:t>welcome</a:t>
            </a:r>
            <a:r>
              <a:rPr lang="de-DE" dirty="0">
                <a:solidFill>
                  <a:srgbClr val="000000"/>
                </a:solidFill>
              </a:rPr>
              <a:t> on-site and Online </a:t>
            </a:r>
            <a:br>
              <a:rPr lang="de-DE" dirty="0">
                <a:solidFill>
                  <a:srgbClr val="000000"/>
                </a:solidFill>
              </a:rPr>
            </a:br>
            <a:endParaRPr lang="de-DE" dirty="0">
              <a:solidFill>
                <a:srgbClr val="000000"/>
              </a:solidFill>
            </a:endParaRPr>
          </a:p>
          <a:p>
            <a:pPr algn="l"/>
            <a:r>
              <a:rPr lang="de-DE" dirty="0">
                <a:solidFill>
                  <a:srgbClr val="000000"/>
                </a:solidFill>
              </a:rPr>
              <a:t>09:15  </a:t>
            </a:r>
            <a:r>
              <a:rPr lang="de-DE" dirty="0" err="1">
                <a:solidFill>
                  <a:srgbClr val="000000"/>
                </a:solidFill>
              </a:rPr>
              <a:t>Presentation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of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the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attack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scenario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using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EvilGinx</a:t>
            </a:r>
            <a:endParaRPr lang="de-DE" dirty="0">
              <a:solidFill>
                <a:srgbClr val="000000"/>
              </a:solidFill>
            </a:endParaRPr>
          </a:p>
          <a:p>
            <a:pPr algn="l"/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09:40  </a:t>
            </a:r>
            <a:r>
              <a:rPr lang="de-DE" dirty="0" err="1">
                <a:solidFill>
                  <a:srgbClr val="000000"/>
                </a:solidFill>
              </a:rPr>
              <a:t>Weaponize</a:t>
            </a:r>
            <a:r>
              <a:rPr lang="de-DE" dirty="0">
                <a:solidFill>
                  <a:srgbClr val="000000"/>
                </a:solidFill>
              </a:rPr>
              <a:t> E-Mail </a:t>
            </a:r>
            <a:r>
              <a:rPr lang="de-DE" dirty="0" err="1">
                <a:solidFill>
                  <a:srgbClr val="000000"/>
                </a:solidFill>
              </a:rPr>
              <a:t>with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GenAI</a:t>
            </a:r>
            <a:r>
              <a:rPr lang="de-DE" dirty="0">
                <a:solidFill>
                  <a:srgbClr val="000000"/>
                </a:solidFill>
              </a:rPr>
              <a:t>, </a:t>
            </a:r>
            <a:r>
              <a:rPr lang="de-DE" dirty="0" err="1">
                <a:solidFill>
                  <a:srgbClr val="000000"/>
                </a:solidFill>
              </a:rPr>
              <a:t>Adversary</a:t>
            </a:r>
            <a:r>
              <a:rPr lang="de-DE" dirty="0">
                <a:solidFill>
                  <a:srgbClr val="000000"/>
                </a:solidFill>
              </a:rPr>
              <a:t>-in-</a:t>
            </a:r>
            <a:r>
              <a:rPr lang="de-DE" dirty="0" err="1">
                <a:solidFill>
                  <a:srgbClr val="000000"/>
                </a:solidFill>
              </a:rPr>
              <a:t>the</a:t>
            </a:r>
            <a:r>
              <a:rPr lang="de-DE" dirty="0">
                <a:solidFill>
                  <a:srgbClr val="000000"/>
                </a:solidFill>
              </a:rPr>
              <a:t>-</a:t>
            </a:r>
            <a:r>
              <a:rPr lang="de-DE" dirty="0" err="1">
                <a:solidFill>
                  <a:srgbClr val="000000"/>
                </a:solidFill>
              </a:rPr>
              <a:t>middle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attack</a:t>
            </a:r>
            <a:r>
              <a:rPr lang="de-DE" dirty="0">
                <a:solidFill>
                  <a:srgbClr val="000000"/>
                </a:solidFill>
              </a:rPr>
              <a:t> at SAP </a:t>
            </a:r>
          </a:p>
          <a:p>
            <a:pPr algn="l"/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12:30  Lunch Break </a:t>
            </a:r>
            <a:br>
              <a:rPr lang="de-DE" dirty="0">
                <a:solidFill>
                  <a:srgbClr val="000000"/>
                </a:solidFill>
              </a:rPr>
            </a:br>
            <a:endParaRPr lang="de-DE" dirty="0">
              <a:solidFill>
                <a:srgbClr val="000000"/>
              </a:solidFill>
            </a:endParaRPr>
          </a:p>
          <a:p>
            <a:pPr algn="l"/>
            <a:r>
              <a:rPr lang="de-DE" dirty="0">
                <a:solidFill>
                  <a:srgbClr val="000000"/>
                </a:solidFill>
              </a:rPr>
              <a:t>13:15  </a:t>
            </a:r>
            <a:r>
              <a:rPr lang="de-DE" dirty="0" err="1">
                <a:solidFill>
                  <a:srgbClr val="000000"/>
                </a:solidFill>
              </a:rPr>
              <a:t>Activation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of</a:t>
            </a:r>
            <a:r>
              <a:rPr lang="de-DE" dirty="0">
                <a:solidFill>
                  <a:srgbClr val="000000"/>
                </a:solidFill>
              </a:rPr>
              <a:t> „</a:t>
            </a:r>
            <a:r>
              <a:rPr lang="de-DE" dirty="0" err="1">
                <a:solidFill>
                  <a:srgbClr val="000000"/>
                </a:solidFill>
              </a:rPr>
              <a:t>Unexpected</a:t>
            </a:r>
            <a:r>
              <a:rPr lang="de-DE" dirty="0">
                <a:solidFill>
                  <a:srgbClr val="000000"/>
                </a:solidFill>
              </a:rPr>
              <a:t> Login " Alerts and </a:t>
            </a:r>
            <a:r>
              <a:rPr lang="de-DE" dirty="0" err="1">
                <a:solidFill>
                  <a:srgbClr val="000000"/>
                </a:solidFill>
              </a:rPr>
              <a:t>automat</a:t>
            </a:r>
            <a:r>
              <a:rPr lang="de-DE" dirty="0">
                <a:solidFill>
                  <a:srgbClr val="000000"/>
                </a:solidFill>
              </a:rPr>
              <a:t>. Response</a:t>
            </a:r>
          </a:p>
          <a:p>
            <a:pPr algn="l"/>
            <a:endParaRPr lang="de-DE" dirty="0">
              <a:solidFill>
                <a:srgbClr val="000000"/>
              </a:solidFill>
            </a:endParaRPr>
          </a:p>
          <a:p>
            <a:pPr algn="l"/>
            <a:r>
              <a:rPr lang="de-DE" b="0" dirty="0">
                <a:solidFill>
                  <a:srgbClr val="000000"/>
                </a:solidFill>
              </a:rPr>
              <a:t>Optional:</a:t>
            </a:r>
          </a:p>
          <a:p>
            <a:pPr algn="l"/>
            <a:r>
              <a:rPr lang="de-DE" b="0" dirty="0">
                <a:solidFill>
                  <a:srgbClr val="000000"/>
                </a:solidFill>
              </a:rPr>
              <a:t>- </a:t>
            </a:r>
            <a:r>
              <a:rPr lang="de-DE" b="0" dirty="0" err="1">
                <a:solidFill>
                  <a:srgbClr val="000000"/>
                </a:solidFill>
              </a:rPr>
              <a:t>Expand</a:t>
            </a:r>
            <a:r>
              <a:rPr lang="de-DE" b="0" dirty="0">
                <a:solidFill>
                  <a:srgbClr val="000000"/>
                </a:solidFill>
              </a:rPr>
              <a:t> </a:t>
            </a:r>
            <a:r>
              <a:rPr lang="de-DE" b="0" dirty="0" err="1">
                <a:solidFill>
                  <a:srgbClr val="000000"/>
                </a:solidFill>
              </a:rPr>
              <a:t>scope</a:t>
            </a:r>
            <a:r>
              <a:rPr lang="de-DE" b="0" dirty="0">
                <a:solidFill>
                  <a:srgbClr val="000000"/>
                </a:solidFill>
              </a:rPr>
              <a:t> </a:t>
            </a:r>
            <a:r>
              <a:rPr lang="de-DE" b="0" dirty="0" err="1">
                <a:solidFill>
                  <a:srgbClr val="000000"/>
                </a:solidFill>
              </a:rPr>
              <a:t>of</a:t>
            </a:r>
            <a:r>
              <a:rPr lang="de-DE" b="0" dirty="0">
                <a:solidFill>
                  <a:srgbClr val="000000"/>
                </a:solidFill>
              </a:rPr>
              <a:t> </a:t>
            </a:r>
            <a:r>
              <a:rPr lang="de-DE" b="0" dirty="0" err="1">
                <a:solidFill>
                  <a:srgbClr val="000000"/>
                </a:solidFill>
              </a:rPr>
              <a:t>your</a:t>
            </a:r>
            <a:r>
              <a:rPr lang="de-DE" b="0" dirty="0">
                <a:solidFill>
                  <a:srgbClr val="000000"/>
                </a:solidFill>
              </a:rPr>
              <a:t> Alert </a:t>
            </a:r>
            <a:r>
              <a:rPr lang="de-DE" b="0" dirty="0" err="1">
                <a:solidFill>
                  <a:srgbClr val="000000"/>
                </a:solidFill>
              </a:rPr>
              <a:t>to</a:t>
            </a:r>
            <a:r>
              <a:rPr lang="de-DE" b="0" dirty="0">
                <a:solidFill>
                  <a:srgbClr val="000000"/>
                </a:solidFill>
              </a:rPr>
              <a:t> „</a:t>
            </a:r>
            <a:r>
              <a:rPr lang="de-DE" b="0" dirty="0" err="1">
                <a:solidFill>
                  <a:srgbClr val="000000"/>
                </a:solidFill>
              </a:rPr>
              <a:t>evil</a:t>
            </a:r>
            <a:r>
              <a:rPr lang="de-DE" b="0" dirty="0">
                <a:solidFill>
                  <a:srgbClr val="000000"/>
                </a:solidFill>
              </a:rPr>
              <a:t> countries“ etc.</a:t>
            </a:r>
          </a:p>
          <a:p>
            <a:pPr algn="l"/>
            <a:r>
              <a:rPr lang="de-DE" b="0" dirty="0">
                <a:solidFill>
                  <a:srgbClr val="000000"/>
                </a:solidFill>
              </a:rPr>
              <a:t>- Extension </a:t>
            </a:r>
            <a:r>
              <a:rPr lang="de-DE" b="0" dirty="0" err="1">
                <a:solidFill>
                  <a:srgbClr val="000000"/>
                </a:solidFill>
              </a:rPr>
              <a:t>of</a:t>
            </a:r>
            <a:r>
              <a:rPr lang="de-DE" b="0" dirty="0">
                <a:solidFill>
                  <a:srgbClr val="000000"/>
                </a:solidFill>
              </a:rPr>
              <a:t> SAP-Alerts </a:t>
            </a:r>
            <a:r>
              <a:rPr lang="de-DE" b="0" dirty="0" err="1">
                <a:solidFill>
                  <a:srgbClr val="000000"/>
                </a:solidFill>
              </a:rPr>
              <a:t>with</a:t>
            </a:r>
            <a:r>
              <a:rPr lang="de-DE" b="0" dirty="0">
                <a:solidFill>
                  <a:srgbClr val="000000"/>
                </a:solidFill>
              </a:rPr>
              <a:t> </a:t>
            </a:r>
            <a:r>
              <a:rPr lang="de-DE" b="0" dirty="0" err="1">
                <a:solidFill>
                  <a:srgbClr val="000000"/>
                </a:solidFill>
              </a:rPr>
              <a:t>remediation</a:t>
            </a:r>
            <a:r>
              <a:rPr lang="de-DE" b="0" dirty="0">
                <a:solidFill>
                  <a:srgbClr val="000000"/>
                </a:solidFill>
              </a:rPr>
              <a:t> </a:t>
            </a:r>
            <a:r>
              <a:rPr lang="de-DE" b="0" dirty="0" err="1">
                <a:solidFill>
                  <a:srgbClr val="000000"/>
                </a:solidFill>
              </a:rPr>
              <a:t>suggestion</a:t>
            </a:r>
            <a:r>
              <a:rPr lang="de-DE" b="0" dirty="0">
                <a:solidFill>
                  <a:srgbClr val="000000"/>
                </a:solidFill>
              </a:rPr>
              <a:t> </a:t>
            </a:r>
            <a:r>
              <a:rPr lang="de-DE" b="0" dirty="0" err="1">
                <a:solidFill>
                  <a:srgbClr val="000000"/>
                </a:solidFill>
              </a:rPr>
              <a:t>generated</a:t>
            </a:r>
            <a:r>
              <a:rPr lang="de-DE" b="0" dirty="0">
                <a:solidFill>
                  <a:srgbClr val="000000"/>
                </a:solidFill>
              </a:rPr>
              <a:t> </a:t>
            </a:r>
            <a:r>
              <a:rPr lang="de-DE" b="0" dirty="0" err="1">
                <a:solidFill>
                  <a:srgbClr val="000000"/>
                </a:solidFill>
              </a:rPr>
              <a:t>by</a:t>
            </a:r>
            <a:r>
              <a:rPr lang="de-DE" b="0" dirty="0">
                <a:solidFill>
                  <a:srgbClr val="000000"/>
                </a:solidFill>
              </a:rPr>
              <a:t> Azure OpenAI</a:t>
            </a:r>
          </a:p>
          <a:p>
            <a:pPr algn="l"/>
            <a:endParaRPr lang="de-DE" dirty="0">
              <a:solidFill>
                <a:srgbClr val="000000"/>
              </a:solidFill>
            </a:endParaRPr>
          </a:p>
          <a:p>
            <a:pPr algn="l"/>
            <a:r>
              <a:rPr lang="de-DE" dirty="0">
                <a:solidFill>
                  <a:srgbClr val="000000"/>
                </a:solidFill>
              </a:rPr>
              <a:t>15:00  Hacking Post-mortem and Fare-</a:t>
            </a:r>
            <a:r>
              <a:rPr lang="de-DE" dirty="0" err="1">
                <a:solidFill>
                  <a:srgbClr val="000000"/>
                </a:solidFill>
              </a:rPr>
              <a:t>well</a:t>
            </a:r>
            <a:r>
              <a:rPr lang="de-DE" dirty="0">
                <a:solidFill>
                  <a:srgbClr val="000000"/>
                </a:solidFill>
              </a:rPr>
              <a:t> </a:t>
            </a:r>
          </a:p>
          <a:p>
            <a:pPr algn="l"/>
            <a:endParaRPr lang="en-DE" dirty="0">
              <a:solidFill>
                <a:srgbClr val="00000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295AEF-B508-89A4-0DBE-0BCBC9738BCC}"/>
              </a:ext>
            </a:extLst>
          </p:cNvPr>
          <p:cNvCxnSpPr/>
          <p:nvPr/>
        </p:nvCxnSpPr>
        <p:spPr>
          <a:xfrm>
            <a:off x="387927" y="1717964"/>
            <a:ext cx="738909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58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2216E3-1310-A178-E914-15FED38BD4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numCol="2"/>
          <a:lstStyle/>
          <a:p>
            <a:r>
              <a:rPr lang="de-DE" sz="2000" dirty="0"/>
              <a:t>Bart (de)</a:t>
            </a:r>
          </a:p>
          <a:p>
            <a:r>
              <a:rPr lang="de-DE" sz="2000" dirty="0"/>
              <a:t>Björn (de)</a:t>
            </a:r>
          </a:p>
          <a:p>
            <a:r>
              <a:rPr lang="de-DE" sz="2000" dirty="0"/>
              <a:t>Denny</a:t>
            </a:r>
          </a:p>
          <a:p>
            <a:r>
              <a:rPr lang="de-DE" sz="2000" dirty="0"/>
              <a:t>Holger (de)</a:t>
            </a:r>
          </a:p>
          <a:p>
            <a:r>
              <a:rPr lang="de-DE" sz="2000" dirty="0"/>
              <a:t>Martin R (de)</a:t>
            </a:r>
          </a:p>
          <a:p>
            <a:r>
              <a:rPr lang="de-DE" sz="2000" dirty="0"/>
              <a:t>Michael (de)</a:t>
            </a:r>
          </a:p>
          <a:p>
            <a:r>
              <a:rPr lang="de-DE" sz="2000" dirty="0" err="1"/>
              <a:t>Neety</a:t>
            </a:r>
            <a:endParaRPr lang="de-DE" sz="2000" dirty="0"/>
          </a:p>
          <a:p>
            <a:r>
              <a:rPr lang="de-DE" sz="2000" dirty="0"/>
              <a:t>Savas</a:t>
            </a:r>
          </a:p>
          <a:p>
            <a:r>
              <a:rPr lang="de-DE" sz="2000" dirty="0"/>
              <a:t>Sefa (de)</a:t>
            </a:r>
          </a:p>
          <a:p>
            <a:r>
              <a:rPr lang="de-DE" sz="2000" dirty="0"/>
              <a:t>Thijs (</a:t>
            </a:r>
            <a:r>
              <a:rPr lang="de-DE" sz="2000" dirty="0" err="1"/>
              <a:t>nl</a:t>
            </a:r>
            <a:r>
              <a:rPr lang="de-DE" sz="2000" dirty="0"/>
              <a:t>)</a:t>
            </a:r>
          </a:p>
          <a:p>
            <a:r>
              <a:rPr lang="de-DE" sz="2000" dirty="0" err="1"/>
              <a:t>Kajendran</a:t>
            </a:r>
            <a:endParaRPr lang="de-DE" sz="2000" dirty="0"/>
          </a:p>
          <a:p>
            <a:r>
              <a:rPr lang="de-DE" sz="2000" dirty="0" err="1"/>
              <a:t>Rajesh</a:t>
            </a:r>
            <a:endParaRPr lang="de-DE" sz="2000" dirty="0"/>
          </a:p>
          <a:p>
            <a:r>
              <a:rPr lang="de-DE" sz="2000" dirty="0"/>
              <a:t>Jan</a:t>
            </a:r>
          </a:p>
          <a:p>
            <a:r>
              <a:rPr lang="de-DE" sz="2000" dirty="0" err="1"/>
              <a:t>Dwiref</a:t>
            </a:r>
            <a:endParaRPr lang="de-DE" sz="2000" dirty="0"/>
          </a:p>
          <a:p>
            <a:r>
              <a:rPr lang="de-DE" sz="2000" dirty="0"/>
              <a:t>Mohammed</a:t>
            </a:r>
          </a:p>
          <a:p>
            <a:r>
              <a:rPr lang="de-DE" sz="2000" dirty="0"/>
              <a:t>Imran</a:t>
            </a:r>
          </a:p>
          <a:p>
            <a:r>
              <a:rPr lang="de-DE" sz="2000" dirty="0"/>
              <a:t>Damien</a:t>
            </a:r>
          </a:p>
          <a:p>
            <a:r>
              <a:rPr lang="de-DE" sz="2000" dirty="0"/>
              <a:t>Martin P (de)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BF039-D8F9-4F2C-CE1D-5A912869C6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/>
              <a:t>Your Coaches </a:t>
            </a:r>
            <a:r>
              <a:rPr lang="de-DE" cap="none" dirty="0" err="1"/>
              <a:t>for</a:t>
            </a:r>
            <a:r>
              <a:rPr lang="de-DE" cap="none" dirty="0"/>
              <a:t> </a:t>
            </a:r>
            <a:r>
              <a:rPr lang="de-DE" cap="none" dirty="0" err="1"/>
              <a:t>today</a:t>
            </a:r>
            <a:endParaRPr lang="en-DE" cap="none" dirty="0"/>
          </a:p>
        </p:txBody>
      </p:sp>
    </p:spTree>
    <p:extLst>
      <p:ext uri="{BB962C8B-B14F-4D97-AF65-F5344CB8AC3E}">
        <p14:creationId xmlns:p14="http://schemas.microsoft.com/office/powerpoint/2010/main" val="2332998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4C145-35BA-2E0C-619E-8B1FDEA41B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213" y="223838"/>
            <a:ext cx="10937875" cy="755218"/>
          </a:xfrm>
        </p:spPr>
        <p:txBody>
          <a:bodyPr/>
          <a:lstStyle/>
          <a:p>
            <a:r>
              <a:rPr lang="de-DE" sz="2000" dirty="0">
                <a:solidFill>
                  <a:schemeClr val="bg1"/>
                </a:solidFill>
                <a:hlinkClick r:id="rId2"/>
              </a:rPr>
              <a:t>State </a:t>
            </a:r>
            <a:r>
              <a:rPr lang="de-DE" sz="2000" dirty="0" err="1">
                <a:solidFill>
                  <a:schemeClr val="bg1"/>
                </a:solidFill>
                <a:hlinkClick r:id="rId2"/>
              </a:rPr>
              <a:t>of</a:t>
            </a:r>
            <a:r>
              <a:rPr lang="de-DE" sz="2000" dirty="0">
                <a:solidFill>
                  <a:schemeClr val="bg1"/>
                </a:solidFill>
                <a:hlinkClick r:id="rId2"/>
              </a:rPr>
              <a:t> IT Security</a:t>
            </a:r>
            <a:r>
              <a:rPr lang="de-DE" sz="2000" dirty="0">
                <a:solidFill>
                  <a:schemeClr val="bg1"/>
                </a:solidFill>
              </a:rPr>
              <a:t> in Germany (Federal Office </a:t>
            </a:r>
            <a:r>
              <a:rPr lang="de-DE" sz="2000" dirty="0" err="1">
                <a:solidFill>
                  <a:schemeClr val="bg1"/>
                </a:solidFill>
              </a:rPr>
              <a:t>of</a:t>
            </a:r>
            <a:r>
              <a:rPr lang="de-DE" sz="2000" dirty="0">
                <a:solidFill>
                  <a:schemeClr val="bg1"/>
                </a:solidFill>
              </a:rPr>
              <a:t> Information Security, 2024) </a:t>
            </a:r>
            <a:endParaRPr lang="en-DE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053D07-E838-6779-61E8-3AA497A5D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188" y="2031109"/>
            <a:ext cx="5454771" cy="32580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637A1-819F-E8F6-0287-6ABD3D39A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0926" y="1969435"/>
            <a:ext cx="4510636" cy="3301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7163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F90E2-5466-4A8D-9B43-5991DD2898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/>
              <a:t>Share </a:t>
            </a:r>
            <a:r>
              <a:rPr lang="de-DE" cap="none" dirty="0" err="1"/>
              <a:t>your</a:t>
            </a:r>
            <a:r>
              <a:rPr lang="de-DE" cap="none" dirty="0"/>
              <a:t> </a:t>
            </a:r>
            <a:r>
              <a:rPr lang="de-DE" cap="none" dirty="0" err="1"/>
              <a:t>opinion</a:t>
            </a:r>
            <a:r>
              <a:rPr lang="de-DE" cap="none" dirty="0"/>
              <a:t> on SAP Security </a:t>
            </a:r>
            <a:r>
              <a:rPr lang="de-DE" cap="none" dirty="0" err="1"/>
              <a:t>before</a:t>
            </a:r>
            <a:r>
              <a:rPr lang="de-DE" cap="none" dirty="0"/>
              <a:t> </a:t>
            </a:r>
            <a:r>
              <a:rPr lang="de-DE" cap="none" dirty="0" err="1"/>
              <a:t>we</a:t>
            </a:r>
            <a:r>
              <a:rPr lang="de-DE" cap="none" dirty="0"/>
              <a:t> </a:t>
            </a:r>
            <a:r>
              <a:rPr lang="de-DE" cap="none" dirty="0" err="1"/>
              <a:t>get</a:t>
            </a:r>
            <a:r>
              <a:rPr lang="de-DE" cap="none" dirty="0"/>
              <a:t> </a:t>
            </a:r>
            <a:r>
              <a:rPr lang="de-DE" cap="none" dirty="0" err="1"/>
              <a:t>started</a:t>
            </a:r>
            <a:r>
              <a:rPr lang="de-DE" cap="none" dirty="0"/>
              <a:t>…</a:t>
            </a:r>
            <a:endParaRPr lang="en-DE" cap="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00B55-9A94-2D9D-AFF3-6BC65968D99A}"/>
              </a:ext>
            </a:extLst>
          </p:cNvPr>
          <p:cNvSpPr txBox="1"/>
          <p:nvPr/>
        </p:nvSpPr>
        <p:spPr>
          <a:xfrm>
            <a:off x="3076414" y="6367046"/>
            <a:ext cx="61218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https://www.menti.com/alshvafvpjck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A6A923-CE57-7B2E-49BD-EA08A3F7E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442" y="1084544"/>
            <a:ext cx="9505709" cy="5280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5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4DD94-7055-F193-5758-38622E6BDE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 err="1"/>
              <a:t>Adversary</a:t>
            </a:r>
            <a:r>
              <a:rPr lang="de-DE" cap="none" dirty="0"/>
              <a:t> in </a:t>
            </a:r>
            <a:r>
              <a:rPr lang="de-DE" cap="none" dirty="0" err="1"/>
              <a:t>the</a:t>
            </a:r>
            <a:r>
              <a:rPr lang="de-DE" cap="none" dirty="0"/>
              <a:t> </a:t>
            </a:r>
            <a:r>
              <a:rPr lang="de-DE" cap="none" dirty="0" err="1"/>
              <a:t>middle</a:t>
            </a:r>
            <a:r>
              <a:rPr lang="de-DE" cap="none" dirty="0"/>
              <a:t> </a:t>
            </a:r>
            <a:r>
              <a:rPr lang="de-DE" cap="none" dirty="0" err="1"/>
              <a:t>attack</a:t>
            </a:r>
            <a:r>
              <a:rPr lang="de-DE" cap="none" dirty="0"/>
              <a:t> (</a:t>
            </a:r>
            <a:r>
              <a:rPr lang="de-DE" cap="none" dirty="0" err="1"/>
              <a:t>AitM</a:t>
            </a:r>
            <a:r>
              <a:rPr lang="de-DE" cap="none" dirty="0"/>
              <a:t>)</a:t>
            </a:r>
            <a:endParaRPr lang="en-DE" cap="none" dirty="0"/>
          </a:p>
        </p:txBody>
      </p:sp>
      <p:pic>
        <p:nvPicPr>
          <p:cNvPr id="2058" name="Picture 10" descr="Upcoming Change to Microsoft Multi-Factor Authentication App: Number  Verification — Syracuse University News">
            <a:extLst>
              <a:ext uri="{FF2B5EF4-FFF2-40B4-BE49-F238E27FC236}">
                <a16:creationId xmlns:a16="http://schemas.microsoft.com/office/drawing/2014/main" id="{1A57BCBE-65C8-3891-36B4-29E67BDC2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305" y="1468292"/>
            <a:ext cx="7174004" cy="446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0A6694-5439-A936-E36A-ECBCCD97C34D}"/>
              </a:ext>
            </a:extLst>
          </p:cNvPr>
          <p:cNvSpPr txBox="1"/>
          <p:nvPr/>
        </p:nvSpPr>
        <p:spPr>
          <a:xfrm>
            <a:off x="378691" y="2644138"/>
            <a:ext cx="4056062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800" dirty="0"/>
              <a:t>SIM </a:t>
            </a:r>
            <a:r>
              <a:rPr lang="de-DE" sz="2800" dirty="0" err="1"/>
              <a:t>Jacking</a:t>
            </a:r>
            <a:endParaRPr lang="de-DE" sz="2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800" dirty="0"/>
              <a:t>MFA </a:t>
            </a:r>
            <a:r>
              <a:rPr lang="de-DE" sz="2800" dirty="0" err="1"/>
              <a:t>fatigue</a:t>
            </a:r>
            <a:endParaRPr lang="de-DE" sz="2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800" dirty="0"/>
              <a:t>Social </a:t>
            </a:r>
            <a:r>
              <a:rPr lang="de-DE" sz="2800" dirty="0" err="1"/>
              <a:t>engineering</a:t>
            </a:r>
            <a:endParaRPr lang="en-DE" sz="2800" dirty="0"/>
          </a:p>
        </p:txBody>
      </p:sp>
    </p:spTree>
    <p:extLst>
      <p:ext uri="{BB962C8B-B14F-4D97-AF65-F5344CB8AC3E}">
        <p14:creationId xmlns:p14="http://schemas.microsoft.com/office/powerpoint/2010/main" val="1893476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4DD94-7055-F193-5758-38622E6BDE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 err="1"/>
              <a:t>Adversary</a:t>
            </a:r>
            <a:r>
              <a:rPr lang="de-DE" cap="none" dirty="0"/>
              <a:t> in </a:t>
            </a:r>
            <a:r>
              <a:rPr lang="de-DE" cap="none" dirty="0" err="1"/>
              <a:t>the</a:t>
            </a:r>
            <a:r>
              <a:rPr lang="de-DE" cap="none" dirty="0"/>
              <a:t> </a:t>
            </a:r>
            <a:r>
              <a:rPr lang="de-DE" cap="none" dirty="0" err="1"/>
              <a:t>middle</a:t>
            </a:r>
            <a:r>
              <a:rPr lang="de-DE" cap="none" dirty="0"/>
              <a:t> </a:t>
            </a:r>
            <a:r>
              <a:rPr lang="de-DE" cap="none" dirty="0" err="1"/>
              <a:t>attack</a:t>
            </a:r>
            <a:r>
              <a:rPr lang="de-DE" cap="none" dirty="0"/>
              <a:t> (</a:t>
            </a:r>
            <a:r>
              <a:rPr lang="de-DE" cap="none" dirty="0" err="1"/>
              <a:t>AitM</a:t>
            </a:r>
            <a:r>
              <a:rPr lang="de-DE" cap="none" dirty="0"/>
              <a:t>)</a:t>
            </a:r>
            <a:endParaRPr lang="en-DE" cap="none" dirty="0"/>
          </a:p>
        </p:txBody>
      </p:sp>
      <p:pic>
        <p:nvPicPr>
          <p:cNvPr id="2052" name="Picture 4" descr="GitHub - kgretzky/evilginx2: Standalone man-in-the-middle attack framework  used for phishing login credentials along with session cookies, allowing  for the bypass of 2-factor authentication">
            <a:extLst>
              <a:ext uri="{FF2B5EF4-FFF2-40B4-BE49-F238E27FC236}">
                <a16:creationId xmlns:a16="http://schemas.microsoft.com/office/drawing/2014/main" id="{2C5010C0-A500-8730-C528-15B00B205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317" y="2820014"/>
            <a:ext cx="1729874" cy="94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AP Fiori Launchpad | SAP Fiori for Web Design Guidelines">
            <a:extLst>
              <a:ext uri="{FF2B5EF4-FFF2-40B4-BE49-F238E27FC236}">
                <a16:creationId xmlns:a16="http://schemas.microsoft.com/office/drawing/2014/main" id="{CCE60704-CA20-F8B1-F6CC-90016E98E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892" y="2060652"/>
            <a:ext cx="3786943" cy="259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B70101-C3FB-85FA-D8AD-1AB92F9CC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9382" y="1185278"/>
            <a:ext cx="732270" cy="732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9FFE32-5F08-A091-1E54-C0D0228D0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12" y="1795187"/>
            <a:ext cx="2143424" cy="24863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545440-8945-8D5C-4045-2CAFC5B751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1221" y="3766039"/>
            <a:ext cx="599393" cy="512458"/>
          </a:xfrm>
          <a:prstGeom prst="rect">
            <a:avLst/>
          </a:prstGeom>
        </p:spPr>
      </p:pic>
      <p:pic>
        <p:nvPicPr>
          <p:cNvPr id="15" name="Graphic 14" descr="Internet with solid fill">
            <a:extLst>
              <a:ext uri="{FF2B5EF4-FFF2-40B4-BE49-F238E27FC236}">
                <a16:creationId xmlns:a16="http://schemas.microsoft.com/office/drawing/2014/main" id="{9F9AF3E6-0209-CF6E-268F-2AF59189E5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12" y="3944517"/>
            <a:ext cx="914400" cy="914400"/>
          </a:xfrm>
          <a:prstGeom prst="rect">
            <a:avLst/>
          </a:prstGeom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BADE4968-237A-C545-40D3-420944DDDE8E}"/>
              </a:ext>
            </a:extLst>
          </p:cNvPr>
          <p:cNvSpPr/>
          <p:nvPr/>
        </p:nvSpPr>
        <p:spPr>
          <a:xfrm rot="19547382">
            <a:off x="-129196" y="4524716"/>
            <a:ext cx="2567709" cy="780195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8D88862D-1A17-569D-F38C-FDFD0C97EA9A}"/>
              </a:ext>
            </a:extLst>
          </p:cNvPr>
          <p:cNvSpPr/>
          <p:nvPr/>
        </p:nvSpPr>
        <p:spPr>
          <a:xfrm rot="19547382" flipV="1">
            <a:off x="-1244915" y="3502223"/>
            <a:ext cx="2567709" cy="711893"/>
          </a:xfrm>
          <a:prstGeom prst="arc">
            <a:avLst>
              <a:gd name="adj1" fmla="val 16200000"/>
              <a:gd name="adj2" fmla="val 2146540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1540BE5-65AB-05F1-C022-B3F79BEDEDE2}"/>
              </a:ext>
            </a:extLst>
          </p:cNvPr>
          <p:cNvCxnSpPr>
            <a:stCxn id="11" idx="1"/>
            <a:endCxn id="13" idx="0"/>
          </p:cNvCxnSpPr>
          <p:nvPr/>
        </p:nvCxnSpPr>
        <p:spPr>
          <a:xfrm rot="10800000" flipV="1">
            <a:off x="2064524" y="1551413"/>
            <a:ext cx="3264858" cy="24377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5AC27C4-E032-42A0-B14E-A21A1040E941}"/>
              </a:ext>
            </a:extLst>
          </p:cNvPr>
          <p:cNvCxnSpPr>
            <a:cxnSpLocks/>
            <a:stCxn id="11" idx="3"/>
            <a:endCxn id="2054" idx="0"/>
          </p:cNvCxnSpPr>
          <p:nvPr/>
        </p:nvCxnSpPr>
        <p:spPr>
          <a:xfrm>
            <a:off x="6061652" y="1551413"/>
            <a:ext cx="3933712" cy="50923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793009E-7DA8-C509-8BF4-182971E304CA}"/>
              </a:ext>
            </a:extLst>
          </p:cNvPr>
          <p:cNvSpPr txBox="1"/>
          <p:nvPr/>
        </p:nvSpPr>
        <p:spPr>
          <a:xfrm>
            <a:off x="4994797" y="1843901"/>
            <a:ext cx="1477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Entra ID</a:t>
            </a:r>
          </a:p>
          <a:p>
            <a:r>
              <a:rPr lang="de-DE" sz="1200" b="0" dirty="0"/>
              <a:t>(</a:t>
            </a:r>
            <a:r>
              <a:rPr lang="de-DE" sz="1200" b="0" dirty="0" err="1"/>
              <a:t>or</a:t>
            </a:r>
            <a:r>
              <a:rPr lang="de-DE" sz="1200" b="0" dirty="0"/>
              <a:t> </a:t>
            </a:r>
            <a:r>
              <a:rPr lang="de-DE" sz="1200" b="0" dirty="0" err="1"/>
              <a:t>any</a:t>
            </a:r>
            <a:r>
              <a:rPr lang="de-DE" sz="1200" b="0" dirty="0"/>
              <a:t> </a:t>
            </a:r>
            <a:r>
              <a:rPr lang="de-DE" sz="1200" b="0" dirty="0" err="1"/>
              <a:t>other</a:t>
            </a:r>
            <a:r>
              <a:rPr lang="de-DE" sz="1200" b="0" dirty="0"/>
              <a:t> </a:t>
            </a:r>
            <a:r>
              <a:rPr lang="de-DE" sz="1200" b="0" dirty="0" err="1"/>
              <a:t>IdP</a:t>
            </a:r>
            <a:r>
              <a:rPr lang="de-DE" sz="1200" b="0" dirty="0"/>
              <a:t>)</a:t>
            </a:r>
            <a:endParaRPr lang="en-DE" sz="1200" b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BE89D9-4732-1017-D996-3B2BCDF04B0C}"/>
              </a:ext>
            </a:extLst>
          </p:cNvPr>
          <p:cNvSpPr txBox="1"/>
          <p:nvPr/>
        </p:nvSpPr>
        <p:spPr>
          <a:xfrm>
            <a:off x="8714315" y="4689640"/>
            <a:ext cx="2562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SAP Fiori Launchpad</a:t>
            </a:r>
            <a:endParaRPr lang="en-DE" sz="1200" b="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1739F1-01F5-7184-37E6-88275925D62F}"/>
              </a:ext>
            </a:extLst>
          </p:cNvPr>
          <p:cNvCxnSpPr/>
          <p:nvPr/>
        </p:nvCxnSpPr>
        <p:spPr>
          <a:xfrm>
            <a:off x="3550439" y="3291265"/>
            <a:ext cx="1166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B50AC8-9FF4-A9D9-E3B6-B1141E433308}"/>
              </a:ext>
            </a:extLst>
          </p:cNvPr>
          <p:cNvCxnSpPr/>
          <p:nvPr/>
        </p:nvCxnSpPr>
        <p:spPr>
          <a:xfrm>
            <a:off x="6619191" y="3291265"/>
            <a:ext cx="1166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47F373A-6B68-D200-3B75-A2E55CF2777D}"/>
              </a:ext>
            </a:extLst>
          </p:cNvPr>
          <p:cNvSpPr txBox="1"/>
          <p:nvPr/>
        </p:nvSpPr>
        <p:spPr>
          <a:xfrm>
            <a:off x="3429081" y="3001947"/>
            <a:ext cx="1288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username</a:t>
            </a:r>
            <a:r>
              <a:rPr lang="de-DE" sz="1100" dirty="0"/>
              <a:t>/</a:t>
            </a:r>
            <a:r>
              <a:rPr lang="de-DE" sz="1100" dirty="0" err="1"/>
              <a:t>pwd</a:t>
            </a:r>
            <a:endParaRPr lang="en-DE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26EB99-986A-66ED-F030-DB057530A6DB}"/>
              </a:ext>
            </a:extLst>
          </p:cNvPr>
          <p:cNvSpPr txBox="1"/>
          <p:nvPr/>
        </p:nvSpPr>
        <p:spPr>
          <a:xfrm>
            <a:off x="3406616" y="3332834"/>
            <a:ext cx="1288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+ MFA</a:t>
            </a:r>
            <a:endParaRPr lang="en-DE" sz="11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872DF1-0E2F-CACA-5074-FD29C9A0738A}"/>
              </a:ext>
            </a:extLst>
          </p:cNvPr>
          <p:cNvGrpSpPr/>
          <p:nvPr/>
        </p:nvGrpSpPr>
        <p:grpSpPr>
          <a:xfrm>
            <a:off x="5283202" y="4689640"/>
            <a:ext cx="914400" cy="914400"/>
            <a:chOff x="5466686" y="4654942"/>
            <a:chExt cx="914400" cy="914400"/>
          </a:xfrm>
        </p:grpSpPr>
        <p:pic>
          <p:nvPicPr>
            <p:cNvPr id="31" name="Graphic 30" descr="Laptop with solid fill">
              <a:extLst>
                <a:ext uri="{FF2B5EF4-FFF2-40B4-BE49-F238E27FC236}">
                  <a16:creationId xmlns:a16="http://schemas.microsoft.com/office/drawing/2014/main" id="{42AC02E2-53B8-F45C-0276-60285FD5F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466686" y="4654942"/>
              <a:ext cx="914400" cy="914400"/>
            </a:xfrm>
            <a:prstGeom prst="rect">
              <a:avLst/>
            </a:prstGeom>
          </p:spPr>
        </p:pic>
        <p:pic>
          <p:nvPicPr>
            <p:cNvPr id="33" name="Graphic 32" descr="Alien Face outline">
              <a:extLst>
                <a:ext uri="{FF2B5EF4-FFF2-40B4-BE49-F238E27FC236}">
                  <a16:creationId xmlns:a16="http://schemas.microsoft.com/office/drawing/2014/main" id="{0BC5FE51-D141-0BC6-C2C3-DFE660A25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36232" y="4862572"/>
              <a:ext cx="399308" cy="399308"/>
            </a:xfrm>
            <a:prstGeom prst="rect">
              <a:avLst/>
            </a:prstGeom>
          </p:spPr>
        </p:pic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94E221-AD9C-63C7-FF73-4EA9436092D3}"/>
              </a:ext>
            </a:extLst>
          </p:cNvPr>
          <p:cNvCxnSpPr>
            <a:cxnSpLocks/>
          </p:cNvCxnSpPr>
          <p:nvPr/>
        </p:nvCxnSpPr>
        <p:spPr>
          <a:xfrm>
            <a:off x="5754254" y="3980049"/>
            <a:ext cx="0" cy="709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12DF365-180F-18CA-FA6C-837D1A4D7EBA}"/>
              </a:ext>
            </a:extLst>
          </p:cNvPr>
          <p:cNvSpPr txBox="1"/>
          <p:nvPr/>
        </p:nvSpPr>
        <p:spPr>
          <a:xfrm>
            <a:off x="4490191" y="4034762"/>
            <a:ext cx="1288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0" dirty="0" err="1"/>
              <a:t>Credentials</a:t>
            </a:r>
            <a:endParaRPr lang="de-DE" sz="1100" b="0" dirty="0"/>
          </a:p>
          <a:p>
            <a:r>
              <a:rPr lang="de-DE" sz="1100" b="0" dirty="0"/>
              <a:t>+</a:t>
            </a:r>
          </a:p>
          <a:p>
            <a:r>
              <a:rPr lang="de-DE" sz="1100" b="0" dirty="0"/>
              <a:t>Session </a:t>
            </a:r>
            <a:r>
              <a:rPr lang="de-DE" sz="1100" b="0" dirty="0" err="1"/>
              <a:t>cookie</a:t>
            </a:r>
            <a:endParaRPr lang="en-DE" sz="1100" b="0" dirty="0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EBE40C8-093F-08FF-1CA0-A2380A3CB747}"/>
              </a:ext>
            </a:extLst>
          </p:cNvPr>
          <p:cNvCxnSpPr>
            <a:cxnSpLocks/>
            <a:stCxn id="33" idx="2"/>
            <a:endCxn id="24" idx="2"/>
          </p:cNvCxnSpPr>
          <p:nvPr/>
        </p:nvCxnSpPr>
        <p:spPr>
          <a:xfrm rot="5400000" flipH="1" flipV="1">
            <a:off x="7739690" y="3040905"/>
            <a:ext cx="268384" cy="4242961"/>
          </a:xfrm>
          <a:prstGeom prst="bentConnector3">
            <a:avLst>
              <a:gd name="adj1" fmla="val -8517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BDEC703-4D31-7620-C30F-58E805DFAF6A}"/>
              </a:ext>
            </a:extLst>
          </p:cNvPr>
          <p:cNvSpPr txBox="1"/>
          <p:nvPr/>
        </p:nvSpPr>
        <p:spPr>
          <a:xfrm>
            <a:off x="5013492" y="2564419"/>
            <a:ext cx="1477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EvilGinx</a:t>
            </a:r>
            <a:endParaRPr lang="de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C8E46-40FB-BB06-993E-ACD577B19AC7}"/>
              </a:ext>
            </a:extLst>
          </p:cNvPr>
          <p:cNvSpPr txBox="1"/>
          <p:nvPr/>
        </p:nvSpPr>
        <p:spPr>
          <a:xfrm>
            <a:off x="-221904" y="4745536"/>
            <a:ext cx="1477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Victim</a:t>
            </a: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AB946-5DE2-E3CB-910D-1B79BA5E01FB}"/>
              </a:ext>
            </a:extLst>
          </p:cNvPr>
          <p:cNvSpPr txBox="1"/>
          <p:nvPr/>
        </p:nvSpPr>
        <p:spPr>
          <a:xfrm>
            <a:off x="5051881" y="5531960"/>
            <a:ext cx="1477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Hacker</a:t>
            </a:r>
          </a:p>
        </p:txBody>
      </p:sp>
    </p:spTree>
    <p:extLst>
      <p:ext uri="{BB962C8B-B14F-4D97-AF65-F5344CB8AC3E}">
        <p14:creationId xmlns:p14="http://schemas.microsoft.com/office/powerpoint/2010/main" val="868163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10B77-A82D-F3CA-64E8-7FAD46439A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 err="1"/>
              <a:t>Humans</a:t>
            </a:r>
            <a:r>
              <a:rPr lang="de-DE" cap="none" dirty="0"/>
              <a:t> </a:t>
            </a:r>
            <a:r>
              <a:rPr lang="de-DE" cap="none" dirty="0" err="1"/>
              <a:t>as</a:t>
            </a:r>
            <a:r>
              <a:rPr lang="de-DE" cap="none" dirty="0"/>
              <a:t> </a:t>
            </a:r>
            <a:r>
              <a:rPr lang="de-DE" cap="none" dirty="0" err="1"/>
              <a:t>the</a:t>
            </a:r>
            <a:r>
              <a:rPr lang="de-DE" cap="none" dirty="0"/>
              <a:t> </a:t>
            </a:r>
            <a:r>
              <a:rPr lang="de-DE" cap="none" dirty="0" err="1"/>
              <a:t>weakest</a:t>
            </a:r>
            <a:r>
              <a:rPr lang="de-DE" cap="none" dirty="0"/>
              <a:t> link in </a:t>
            </a:r>
            <a:r>
              <a:rPr lang="de-DE" cap="none" dirty="0" err="1"/>
              <a:t>cyber</a:t>
            </a:r>
            <a:r>
              <a:rPr lang="de-DE" cap="none" dirty="0"/>
              <a:t> </a:t>
            </a:r>
            <a:r>
              <a:rPr lang="de-DE" cap="none" dirty="0" err="1"/>
              <a:t>security</a:t>
            </a:r>
            <a:endParaRPr lang="en-DE" cap="non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C92A53-1552-C5D7-5636-7E36114B8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24" y="2419181"/>
            <a:ext cx="4480086" cy="37639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A2229F-3215-C148-61D3-11779F803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86" y="1212630"/>
            <a:ext cx="4796724" cy="1186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03F169-0941-397A-A3F2-BFE5BB0507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09" t="16899"/>
          <a:stretch/>
        </p:blipFill>
        <p:spPr>
          <a:xfrm>
            <a:off x="6381086" y="1684963"/>
            <a:ext cx="4103367" cy="39318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7374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B526C4-A10E-DE9E-AC81-68E76A7E6C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4" y="1341438"/>
            <a:ext cx="4892242" cy="1992890"/>
          </a:xfrm>
        </p:spPr>
        <p:txBody>
          <a:bodyPr/>
          <a:lstStyle/>
          <a:p>
            <a:pPr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hlinkClick r:id="rId2"/>
              </a:rPr>
              <a:t>Crescendo </a:t>
            </a:r>
            <a:r>
              <a:rPr lang="de-DE" sz="1600" dirty="0" err="1">
                <a:hlinkClick r:id="rId2"/>
              </a:rPr>
              <a:t>attack</a:t>
            </a:r>
            <a:endParaRPr lang="de-DE" sz="1600" dirty="0"/>
          </a:p>
          <a:p>
            <a:pPr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hlinkClick r:id="rId3"/>
              </a:rPr>
              <a:t>Skeleton Key </a:t>
            </a:r>
            <a:r>
              <a:rPr lang="de-DE" sz="1600" dirty="0" err="1">
                <a:hlinkClick r:id="rId3"/>
              </a:rPr>
              <a:t>attack</a:t>
            </a:r>
            <a:endParaRPr lang="de-DE" sz="1600" dirty="0"/>
          </a:p>
          <a:p>
            <a:pPr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600" dirty="0" err="1">
                <a:hlinkClick r:id="rId4"/>
              </a:rPr>
              <a:t>Past</a:t>
            </a:r>
            <a:r>
              <a:rPr lang="de-DE" sz="1600" dirty="0">
                <a:hlinkClick r:id="rId4"/>
              </a:rPr>
              <a:t> </a:t>
            </a:r>
            <a:r>
              <a:rPr lang="de-DE" sz="1600" dirty="0" err="1">
                <a:hlinkClick r:id="rId4"/>
              </a:rPr>
              <a:t>tense</a:t>
            </a:r>
            <a:r>
              <a:rPr lang="de-DE" sz="1600" dirty="0">
                <a:hlinkClick r:id="rId4"/>
              </a:rPr>
              <a:t> </a:t>
            </a:r>
            <a:r>
              <a:rPr lang="de-DE" sz="1600" dirty="0" err="1">
                <a:hlinkClick r:id="rId4"/>
              </a:rPr>
              <a:t>prompts</a:t>
            </a:r>
            <a:endParaRPr lang="de-DE" sz="1600" dirty="0"/>
          </a:p>
          <a:p>
            <a:pPr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600" dirty="0" err="1"/>
              <a:t>Claiming</a:t>
            </a:r>
            <a:r>
              <a:rPr lang="de-DE" sz="1600" dirty="0"/>
              <a:t> an </a:t>
            </a:r>
            <a:r>
              <a:rPr lang="de-DE" sz="1600" dirty="0" err="1"/>
              <a:t>educational</a:t>
            </a:r>
            <a:r>
              <a:rPr lang="de-DE" sz="1600" dirty="0"/>
              <a:t> </a:t>
            </a:r>
            <a:r>
              <a:rPr lang="de-DE" sz="1600" dirty="0" err="1"/>
              <a:t>environment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prevent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attack</a:t>
            </a:r>
            <a:endParaRPr lang="en-DE" sz="1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10B77-A82D-F3CA-64E8-7FAD46439A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/>
              <a:t>AI and </a:t>
            </a:r>
            <a:r>
              <a:rPr lang="de-DE" cap="none" dirty="0" err="1"/>
              <a:t>copilots</a:t>
            </a:r>
            <a:r>
              <a:rPr lang="de-DE" cap="none" dirty="0"/>
              <a:t> </a:t>
            </a:r>
            <a:r>
              <a:rPr lang="de-DE" cap="none" dirty="0" err="1"/>
              <a:t>get</a:t>
            </a:r>
            <a:r>
              <a:rPr lang="de-DE" cap="none" dirty="0"/>
              <a:t> </a:t>
            </a:r>
            <a:r>
              <a:rPr lang="de-DE" cap="none" dirty="0" err="1"/>
              <a:t>better</a:t>
            </a:r>
            <a:r>
              <a:rPr lang="de-DE" cap="none" dirty="0"/>
              <a:t> on </a:t>
            </a:r>
            <a:r>
              <a:rPr lang="de-DE" cap="none" dirty="0" err="1"/>
              <a:t>avoiding</a:t>
            </a:r>
            <a:r>
              <a:rPr lang="de-DE" cap="none" dirty="0"/>
              <a:t> </a:t>
            </a:r>
            <a:r>
              <a:rPr lang="de-DE" cap="none" dirty="0" err="1"/>
              <a:t>abuse</a:t>
            </a:r>
            <a:r>
              <a:rPr lang="de-DE" cap="none" dirty="0"/>
              <a:t>, BUT</a:t>
            </a:r>
            <a:endParaRPr lang="en-DE" cap="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965F6-DCA9-4429-2C06-43003DBCB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3518" y="2083882"/>
            <a:ext cx="3686181" cy="3246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B1DB53-2D35-473D-57D8-502452E3B8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2799" y="1527536"/>
            <a:ext cx="4892243" cy="4412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36F4B3-FEB5-3A6B-3734-9F3D96F429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441" y="3334328"/>
            <a:ext cx="2820494" cy="2978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5644AF-09CE-6A66-849D-3FD8CEB6F4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674" y="3071906"/>
            <a:ext cx="4960604" cy="2074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E6719C-AA48-CE5C-2A3F-CDA4DD8815BD}"/>
              </a:ext>
            </a:extLst>
          </p:cNvPr>
          <p:cNvSpPr/>
          <p:nvPr/>
        </p:nvSpPr>
        <p:spPr>
          <a:xfrm>
            <a:off x="1248032" y="3550508"/>
            <a:ext cx="226541" cy="78259"/>
          </a:xfrm>
          <a:prstGeom prst="rect">
            <a:avLst/>
          </a:prstGeom>
          <a:solidFill>
            <a:srgbClr val="EDEFF7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F3234-6CCC-21A6-A217-8478EEFAE0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756" y="1419765"/>
            <a:ext cx="10126488" cy="4410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678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3269E9-8142-0BA7-1019-ED7990E47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Restart Docker/</a:t>
            </a:r>
            <a:r>
              <a:rPr lang="de-DE" dirty="0" err="1"/>
              <a:t>Podman</a:t>
            </a:r>
            <a:r>
              <a:rPr lang="de-DE" dirty="0"/>
              <a:t> </a:t>
            </a:r>
            <a:r>
              <a:rPr lang="de-DE" dirty="0" err="1"/>
              <a:t>Deskto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Use private Browser-Tabs (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forget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enable</a:t>
            </a:r>
            <a:r>
              <a:rPr lang="de-DE" dirty="0"/>
              <a:t> </a:t>
            </a:r>
            <a:r>
              <a:rPr lang="de-DE" dirty="0" err="1"/>
              <a:t>cookie</a:t>
            </a:r>
            <a:r>
              <a:rPr lang="de-DE" dirty="0"/>
              <a:t>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private </a:t>
            </a:r>
            <a:r>
              <a:rPr lang="de-DE" dirty="0" err="1"/>
              <a:t>window</a:t>
            </a:r>
            <a:r>
              <a:rPr lang="de-DE" dirty="0"/>
              <a:t>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Pay </a:t>
            </a:r>
            <a:r>
              <a:rPr lang="de-DE" dirty="0" err="1"/>
              <a:t>attention</a:t>
            </a:r>
            <a:r>
              <a:rPr lang="de-DE" dirty="0"/>
              <a:t> Tipps, </a:t>
            </a:r>
            <a:r>
              <a:rPr lang="de-DE" dirty="0" err="1"/>
              <a:t>Warnings</a:t>
            </a:r>
            <a:r>
              <a:rPr lang="de-DE" dirty="0"/>
              <a:t>, und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callouts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GitHub Repository </a:t>
            </a:r>
            <a:r>
              <a:rPr lang="de-DE" dirty="0" err="1"/>
              <a:t>guide</a:t>
            </a:r>
            <a:r>
              <a:rPr lang="de-DE" dirty="0"/>
              <a:t> und dort die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In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blacklist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on </a:t>
            </a:r>
            <a:r>
              <a:rPr lang="de-DE" dirty="0" err="1"/>
              <a:t>Evilginx</a:t>
            </a:r>
            <a:r>
              <a:rPr lang="de-DE" dirty="0"/>
              <a:t>: </a:t>
            </a:r>
            <a:r>
              <a:rPr lang="de-DE" dirty="0" err="1"/>
              <a:t>run</a:t>
            </a:r>
            <a:r>
              <a:rPr lang="de-DE" dirty="0"/>
              <a:t> „</a:t>
            </a:r>
            <a:r>
              <a:rPr lang="de-DE" dirty="0" err="1"/>
              <a:t>blacklist</a:t>
            </a:r>
            <a:r>
              <a:rPr lang="de-DE" dirty="0"/>
              <a:t> off“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34EDC-FA4D-A6AA-DD7C-A122E59802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/>
              <a:t>Troubleshooting </a:t>
            </a:r>
            <a:r>
              <a:rPr lang="de-DE" cap="none" dirty="0" err="1"/>
              <a:t>hints</a:t>
            </a:r>
            <a:endParaRPr lang="en-DE" cap="none" dirty="0"/>
          </a:p>
        </p:txBody>
      </p:sp>
    </p:spTree>
    <p:extLst>
      <p:ext uri="{BB962C8B-B14F-4D97-AF65-F5344CB8AC3E}">
        <p14:creationId xmlns:p14="http://schemas.microsoft.com/office/powerpoint/2010/main" val="70904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AEA69-F1B6-BB42-F0B7-B8A7069EB1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/>
              <a:t>Having </a:t>
            </a:r>
            <a:r>
              <a:rPr lang="de-DE" cap="none" dirty="0" err="1"/>
              <a:t>fun</a:t>
            </a:r>
            <a:r>
              <a:rPr lang="de-DE" cap="none" dirty="0"/>
              <a:t> </a:t>
            </a:r>
            <a:r>
              <a:rPr lang="de-DE" cap="none" dirty="0" err="1"/>
              <a:t>hacking</a:t>
            </a:r>
            <a:endParaRPr lang="en-DE" cap="none" dirty="0"/>
          </a:p>
        </p:txBody>
      </p:sp>
      <p:pic>
        <p:nvPicPr>
          <p:cNvPr id="5" name="Picture 4" descr="Screens screenshot of a computer screen&#10;&#10;Description automatically generated">
            <a:extLst>
              <a:ext uri="{FF2B5EF4-FFF2-40B4-BE49-F238E27FC236}">
                <a16:creationId xmlns:a16="http://schemas.microsoft.com/office/drawing/2014/main" id="{878FDCBD-18E2-3425-2B92-1B91A3584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5" y="1428423"/>
            <a:ext cx="6848146" cy="4665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616FCF4-03D8-357E-9A93-3C633792F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586" y="2806541"/>
            <a:ext cx="4404014" cy="21195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689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A94F9C-D63E-B5A3-380A-AA28ECDE8A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3201" y="1341437"/>
            <a:ext cx="11730296" cy="4883871"/>
          </a:xfrm>
        </p:spPr>
        <p:txBody>
          <a:bodyPr/>
          <a:lstStyle/>
          <a:p>
            <a:endParaRPr lang="en-US" sz="5400" dirty="0"/>
          </a:p>
          <a:p>
            <a:r>
              <a:rPr lang="en-US" sz="5400" dirty="0">
                <a:hlinkClick r:id="rId2"/>
              </a:rPr>
              <a:t>https://aka.ms/dsag-tt-24-microsoft</a:t>
            </a:r>
            <a:endParaRPr lang="en-US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13323-71DF-33FB-EB76-BA11486E0C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Ready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!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5228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6CF82-58CE-04FC-B810-03839F2002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2400"/>
            <a:ext cx="11278898" cy="685800"/>
          </a:xfrm>
        </p:spPr>
        <p:txBody>
          <a:bodyPr/>
          <a:lstStyle/>
          <a:p>
            <a:r>
              <a:rPr lang="de-DE" cap="none" dirty="0"/>
              <a:t>Share Roadmap-</a:t>
            </a:r>
            <a:r>
              <a:rPr lang="de-DE" cap="none" dirty="0" err="1"/>
              <a:t>wishes</a:t>
            </a:r>
            <a:r>
              <a:rPr lang="de-DE" cap="none" dirty="0"/>
              <a:t>, Feedback and Projekt-</a:t>
            </a:r>
            <a:r>
              <a:rPr lang="de-DE" cap="none" dirty="0" err="1"/>
              <a:t>Ideas</a:t>
            </a:r>
            <a:r>
              <a:rPr lang="de-DE" cap="none" dirty="0"/>
              <a:t> </a:t>
            </a:r>
            <a:r>
              <a:rPr lang="de-DE" cap="none" dirty="0" err="1"/>
              <a:t>with</a:t>
            </a:r>
            <a:r>
              <a:rPr lang="de-DE" cap="none" dirty="0"/>
              <a:t> </a:t>
            </a:r>
            <a:r>
              <a:rPr lang="de-DE" cap="none" dirty="0" err="1"/>
              <a:t>us</a:t>
            </a:r>
            <a:r>
              <a:rPr lang="de-DE" cap="none" dirty="0"/>
              <a:t> on-site </a:t>
            </a:r>
            <a:r>
              <a:rPr lang="de-DE" cap="none" dirty="0" err="1"/>
              <a:t>or</a:t>
            </a:r>
            <a:r>
              <a:rPr lang="de-DE" cap="none" dirty="0"/>
              <a:t> via GitHub.</a:t>
            </a:r>
            <a:endParaRPr lang="en-DE" cap="non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24854-82E8-5FA6-70F4-B05E56483A67}"/>
              </a:ext>
            </a:extLst>
          </p:cNvPr>
          <p:cNvSpPr txBox="1"/>
          <p:nvPr/>
        </p:nvSpPr>
        <p:spPr>
          <a:xfrm>
            <a:off x="1962727" y="3131128"/>
            <a:ext cx="405476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>
                <a:hlinkClick r:id="rId2"/>
              </a:rPr>
              <a:t>📬holger.bruchelt@microsoft.com</a:t>
            </a:r>
            <a:endParaRPr lang="de-DE" dirty="0"/>
          </a:p>
          <a:p>
            <a:pPr algn="l"/>
            <a:r>
              <a:rPr lang="de-DE" dirty="0">
                <a:hlinkClick r:id="rId3"/>
              </a:rPr>
              <a:t>📬martin.pankraz@microsoft.com</a:t>
            </a:r>
            <a:endParaRPr lang="de-DE" dirty="0"/>
          </a:p>
          <a:p>
            <a:pPr algn="l"/>
            <a:endParaRPr lang="de-DE" dirty="0"/>
          </a:p>
          <a:p>
            <a:pPr algn="l"/>
            <a:r>
              <a:rPr lang="de-DE" dirty="0"/>
              <a:t>      </a:t>
            </a:r>
            <a:r>
              <a:rPr lang="de-DE" sz="1200" dirty="0">
                <a:hlinkClick r:id="rId4"/>
              </a:rPr>
              <a:t>https://www.linkedin.com/in/martin-pankraz/</a:t>
            </a:r>
            <a:endParaRPr lang="de-DE" sz="1200" dirty="0"/>
          </a:p>
          <a:p>
            <a:pPr algn="l"/>
            <a:r>
              <a:rPr lang="de-DE" sz="1200" dirty="0"/>
              <a:t>        </a:t>
            </a:r>
            <a:r>
              <a:rPr lang="de-DE" sz="1200" dirty="0">
                <a:hlinkClick r:id="rId5"/>
              </a:rPr>
              <a:t>https://www.linkedin.com/in/holger-bruchelt/</a:t>
            </a:r>
            <a:r>
              <a:rPr lang="de-DE" sz="1200" dirty="0"/>
              <a:t> </a:t>
            </a:r>
            <a:endParaRPr lang="en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D5C6A7-1F45-DDDF-845D-83DBC134E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018" y="4034038"/>
            <a:ext cx="257436" cy="25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22C1CC7-D849-157C-9D6A-897538044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272" y="1873762"/>
            <a:ext cx="3137401" cy="3723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32258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35FD7-6049-355C-7C89-608A0A566C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/>
              <a:t>Raise </a:t>
            </a:r>
            <a:r>
              <a:rPr lang="de-DE" cap="none" dirty="0" err="1"/>
              <a:t>the</a:t>
            </a:r>
            <a:r>
              <a:rPr lang="de-DE" cap="none" dirty="0"/>
              <a:t> bar </a:t>
            </a:r>
            <a:r>
              <a:rPr lang="de-DE" cap="none" dirty="0" err="1"/>
              <a:t>for</a:t>
            </a:r>
            <a:r>
              <a:rPr lang="de-DE" cap="none" dirty="0"/>
              <a:t> </a:t>
            </a:r>
            <a:r>
              <a:rPr lang="de-DE" cap="none" dirty="0" err="1"/>
              <a:t>your</a:t>
            </a:r>
            <a:r>
              <a:rPr lang="de-DE" cap="none" dirty="0"/>
              <a:t> SAP </a:t>
            </a:r>
            <a:r>
              <a:rPr lang="de-DE" cap="none" dirty="0" err="1"/>
              <a:t>sign</a:t>
            </a:r>
            <a:r>
              <a:rPr lang="de-DE" cap="none" dirty="0"/>
              <a:t>-ins </a:t>
            </a:r>
            <a:r>
              <a:rPr lang="de-DE" cap="none" dirty="0" err="1"/>
              <a:t>from</a:t>
            </a:r>
            <a:r>
              <a:rPr lang="de-DE" cap="none" dirty="0"/>
              <a:t> </a:t>
            </a:r>
            <a:r>
              <a:rPr lang="de-DE" cap="none" dirty="0" err="1"/>
              <a:t>better</a:t>
            </a:r>
            <a:r>
              <a:rPr lang="de-DE" cap="none" dirty="0"/>
              <a:t> </a:t>
            </a:r>
            <a:r>
              <a:rPr lang="de-DE" cap="none" dirty="0" err="1"/>
              <a:t>to</a:t>
            </a:r>
            <a:r>
              <a:rPr lang="de-DE" cap="none" dirty="0"/>
              <a:t> </a:t>
            </a:r>
            <a:r>
              <a:rPr lang="de-DE" cap="none"/>
              <a:t>best</a:t>
            </a:r>
            <a:endParaRPr lang="en-DE" cap="non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33C3932-8E64-609B-B6C1-5B379ADD5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32747" y="1105027"/>
            <a:ext cx="9296986" cy="5250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B7A9A3-23BF-1FD1-0083-E4491D1A8262}"/>
              </a:ext>
            </a:extLst>
          </p:cNvPr>
          <p:cNvSpPr txBox="1"/>
          <p:nvPr/>
        </p:nvSpPr>
        <p:spPr>
          <a:xfrm>
            <a:off x="2934501" y="6453134"/>
            <a:ext cx="6893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linkClick r:id="rId3"/>
              </a:rPr>
              <a:t>Microsoft </a:t>
            </a:r>
            <a:r>
              <a:rPr lang="de-DE" dirty="0" err="1">
                <a:hlinkClick r:id="rId3"/>
              </a:rPr>
              <a:t>Digitial</a:t>
            </a:r>
            <a:r>
              <a:rPr lang="de-DE" dirty="0">
                <a:hlinkClick r:id="rId3"/>
              </a:rPr>
              <a:t> Defense Report 2024</a:t>
            </a:r>
            <a:r>
              <a:rPr lang="de-DE" dirty="0"/>
              <a:t>	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46064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7AE7F-A2A4-8412-AC4B-BCF58D4805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b="0" i="0" cap="none" dirty="0">
                <a:effectLst/>
                <a:latin typeface="-apple-system"/>
              </a:rPr>
              <a:t>Next events 2025</a:t>
            </a:r>
            <a:endParaRPr lang="en-DE" cap="none" dirty="0"/>
          </a:p>
        </p:txBody>
      </p:sp>
      <p:pic>
        <p:nvPicPr>
          <p:cNvPr id="2" name="Grafik 5">
            <a:extLst>
              <a:ext uri="{FF2B5EF4-FFF2-40B4-BE49-F238E27FC236}">
                <a16:creationId xmlns:a16="http://schemas.microsoft.com/office/drawing/2014/main" id="{D22E8FB9-559C-4E25-E75E-F04F28881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534" y="2208986"/>
            <a:ext cx="6044259" cy="3400393"/>
          </a:xfrm>
          <a:prstGeom prst="rect">
            <a:avLst/>
          </a:prstGeom>
        </p:spPr>
      </p:pic>
      <p:sp>
        <p:nvSpPr>
          <p:cNvPr id="5" name="Textfeld 3">
            <a:extLst>
              <a:ext uri="{FF2B5EF4-FFF2-40B4-BE49-F238E27FC236}">
                <a16:creationId xmlns:a16="http://schemas.microsoft.com/office/drawing/2014/main" id="{CCB48136-24FE-C35E-5476-77B06E5CB2AF}"/>
              </a:ext>
            </a:extLst>
          </p:cNvPr>
          <p:cNvSpPr txBox="1"/>
          <p:nvPr/>
        </p:nvSpPr>
        <p:spPr>
          <a:xfrm>
            <a:off x="377207" y="1966011"/>
            <a:ext cx="51040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de-DE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DSAG Technologietage</a:t>
            </a:r>
          </a:p>
          <a:p>
            <a:pPr marL="285750" indent="-2857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02. &amp; 03. April 2025 im RheinMain CongressCenter in Wiesbaden</a:t>
            </a:r>
          </a:p>
          <a:p>
            <a:pPr marL="285750" indent="-2857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https://dsag.de/events/techtage25/</a:t>
            </a:r>
            <a:r>
              <a:rPr lang="de-DE" sz="18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285750" indent="-2857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sz="1800" b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sz="1800" b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de-DE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DSAG TechXchange</a:t>
            </a:r>
          </a:p>
          <a:p>
            <a:pPr marL="285750" indent="-2857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04. April 2025 im RheinMain CongressCenter in Wiesbaden</a:t>
            </a:r>
          </a:p>
          <a:p>
            <a:pPr marL="285750" indent="-2857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https://dsag.de/events/techxchange25/</a:t>
            </a:r>
            <a:r>
              <a:rPr lang="de-DE" sz="18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sz="1800" b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de-DE" sz="1800" b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de-DE" sz="18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Anmeldung ist geöffnet!</a:t>
            </a:r>
          </a:p>
          <a:p>
            <a:pPr marL="285750" indent="-285750" algn="l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de-DE" sz="18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Kombi-Tickets sind verfügbar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de-DE" sz="1800" b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de-DE" sz="1800" b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441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9AA34E9-969C-994B-8B6F-25775E000C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7408" y="404664"/>
            <a:ext cx="11461631" cy="1990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 sz="5400" dirty="0">
                <a:uFill>
                  <a:solidFill>
                    <a:schemeClr val="accent2"/>
                  </a:solidFill>
                </a:uFill>
              </a:rPr>
              <a:t>Vortragsslot auf Jahreskongress</a:t>
            </a:r>
          </a:p>
        </p:txBody>
      </p:sp>
      <p:sp>
        <p:nvSpPr>
          <p:cNvPr id="45" name="Textplatzhalter 44"/>
          <p:cNvSpPr>
            <a:spLocks noGrp="1"/>
          </p:cNvSpPr>
          <p:nvPr>
            <p:ph type="body" sz="quarter" idx="19"/>
          </p:nvPr>
        </p:nvSpPr>
        <p:spPr>
          <a:xfrm>
            <a:off x="1199456" y="2630506"/>
            <a:ext cx="9773344" cy="3174757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endParaRPr lang="de-DE" b="0" dirty="0"/>
          </a:p>
          <a:p>
            <a:pPr marL="342900" indent="-342900">
              <a:buFontTx/>
              <a:buChar char="-"/>
            </a:pPr>
            <a:r>
              <a:rPr lang="de-DE" b="0" dirty="0"/>
              <a:t>Am 16. Oktober 2024 in Leipzig</a:t>
            </a:r>
          </a:p>
          <a:p>
            <a:pPr marL="342900" indent="-342900">
              <a:buFontTx/>
              <a:buChar char="-"/>
            </a:pPr>
            <a:r>
              <a:rPr lang="de-DE" b="0" dirty="0"/>
              <a:t>Ein Slot á 45 Minuten zur freien Gestaltung zwischen 14:00 und 17:30</a:t>
            </a:r>
          </a:p>
          <a:p>
            <a:pPr marL="342900" indent="-342900">
              <a:buFontTx/>
              <a:buChar char="-"/>
            </a:pPr>
            <a:r>
              <a:rPr lang="de-DE" b="0" dirty="0"/>
              <a:t>Anreise und Unterkunft werden übernommen </a:t>
            </a:r>
          </a:p>
          <a:p>
            <a:r>
              <a:rPr lang="de-DE" b="0" dirty="0"/>
              <a:t>     (bis 3 Personen pro Vortrag)</a:t>
            </a:r>
          </a:p>
          <a:p>
            <a:r>
              <a:rPr lang="de-DE" b="0" dirty="0"/>
              <a:t>-    Ansprechpartner: Patrick Schnarchendorf (DSAG)</a:t>
            </a:r>
          </a:p>
          <a:p>
            <a:pPr marL="342900" indent="-342900">
              <a:buFontTx/>
              <a:buChar char="-"/>
            </a:pPr>
            <a:endParaRPr lang="de-DE" b="0" dirty="0"/>
          </a:p>
          <a:p>
            <a:pPr marL="342900" indent="-342900">
              <a:buFontTx/>
              <a:buChar char="-"/>
            </a:pP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1792639167"/>
      </p:ext>
    </p:extLst>
  </p:cSld>
  <p:clrMapOvr>
    <a:masterClrMapping/>
  </p:clrMapOvr>
</p:sld>
</file>

<file path=ppt/theme/theme1.xml><?xml version="1.0" encoding="utf-8"?>
<a:theme xmlns:a="http://schemas.openxmlformats.org/drawingml/2006/main" name="DSAG-Technologietage 2024">
  <a:themeElements>
    <a:clrScheme name="Benutzerdefiniert 10">
      <a:dk1>
        <a:srgbClr val="4C4C4C"/>
      </a:dk1>
      <a:lt1>
        <a:srgbClr val="FFFFFF"/>
      </a:lt1>
      <a:dk2>
        <a:srgbClr val="FFFFFF"/>
      </a:dk2>
      <a:lt2>
        <a:srgbClr val="B2B2B2"/>
      </a:lt2>
      <a:accent1>
        <a:srgbClr val="00475B"/>
      </a:accent1>
      <a:accent2>
        <a:srgbClr val="EB5C3F"/>
      </a:accent2>
      <a:accent3>
        <a:srgbClr val="00B3C4"/>
      </a:accent3>
      <a:accent4>
        <a:srgbClr val="121B46"/>
      </a:accent4>
      <a:accent5>
        <a:srgbClr val="2BAC66"/>
      </a:accent5>
      <a:accent6>
        <a:srgbClr val="01324C"/>
      </a:accent6>
      <a:hlink>
        <a:srgbClr val="6679D8"/>
      </a:hlink>
      <a:folHlink>
        <a:srgbClr val="00B3C4"/>
      </a:folHlink>
    </a:clrScheme>
    <a:fontScheme name="DSAG-Jahreskongress 200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FC9E9"/>
        </a:solidFill>
        <a:ln w="9525">
          <a:solidFill>
            <a:schemeClr val="accent1"/>
          </a:solidFill>
        </a:ln>
      </a:spPr>
      <a:bodyPr rtlCol="0" anchor="ctr"/>
      <a:lstStyle>
        <a:defPPr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SAG-Jahreskongress 200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AG-Jahreskongress 200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7921"/>
        </a:accent1>
        <a:accent2>
          <a:srgbClr val="5D1915"/>
        </a:accent2>
        <a:accent3>
          <a:srgbClr val="FFFFFF"/>
        </a:accent3>
        <a:accent4>
          <a:srgbClr val="000000"/>
        </a:accent4>
        <a:accent5>
          <a:srgbClr val="EBBEAB"/>
        </a:accent5>
        <a:accent6>
          <a:srgbClr val="531612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669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A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37022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273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7BC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690C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3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BCD3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4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CD3AB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5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A5E87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EB6C3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SAG-JK-2018 Template_final.potx" id="{9F54080D-7973-41C8-8A07-123A2FDAD6C4}" vid="{EBFDDD2A-1193-4788-B583-CD36A00DE478}"/>
    </a:ext>
  </a:extLst>
</a:theme>
</file>

<file path=ppt/theme/theme2.xml><?xml version="1.0" encoding="utf-8"?>
<a:theme xmlns:a="http://schemas.openxmlformats.org/drawingml/2006/main" name="1_DSAG-Technologietage 2024">
  <a:themeElements>
    <a:clrScheme name="Benutzerdefiniert 10">
      <a:dk1>
        <a:srgbClr val="4C4C4C"/>
      </a:dk1>
      <a:lt1>
        <a:srgbClr val="FFFFFF"/>
      </a:lt1>
      <a:dk2>
        <a:srgbClr val="FFFFFF"/>
      </a:dk2>
      <a:lt2>
        <a:srgbClr val="B2B2B2"/>
      </a:lt2>
      <a:accent1>
        <a:srgbClr val="00475B"/>
      </a:accent1>
      <a:accent2>
        <a:srgbClr val="EB5C3F"/>
      </a:accent2>
      <a:accent3>
        <a:srgbClr val="00B3C4"/>
      </a:accent3>
      <a:accent4>
        <a:srgbClr val="121B46"/>
      </a:accent4>
      <a:accent5>
        <a:srgbClr val="2BAC66"/>
      </a:accent5>
      <a:accent6>
        <a:srgbClr val="01324C"/>
      </a:accent6>
      <a:hlink>
        <a:srgbClr val="6679D8"/>
      </a:hlink>
      <a:folHlink>
        <a:srgbClr val="00B3C4"/>
      </a:folHlink>
    </a:clrScheme>
    <a:fontScheme name="DSAG-Jahreskongress 200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FC9E9"/>
        </a:solidFill>
        <a:ln w="9525">
          <a:solidFill>
            <a:schemeClr val="accent1"/>
          </a:solidFill>
        </a:ln>
      </a:spPr>
      <a:bodyPr rtlCol="0" anchor="ctr"/>
      <a:lstStyle>
        <a:defPPr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SAG-Jahreskongress 200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AG-Jahreskongress 200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7921"/>
        </a:accent1>
        <a:accent2>
          <a:srgbClr val="5D1915"/>
        </a:accent2>
        <a:accent3>
          <a:srgbClr val="FFFFFF"/>
        </a:accent3>
        <a:accent4>
          <a:srgbClr val="000000"/>
        </a:accent4>
        <a:accent5>
          <a:srgbClr val="EBBEAB"/>
        </a:accent5>
        <a:accent6>
          <a:srgbClr val="531612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669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A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37022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273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7BC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690C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3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BCD3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4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CD3AB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5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A5E87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EB6C3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SAG-JK-2018 Template_final.potx" id="{9F54080D-7973-41C8-8A07-123A2FDAD6C4}" vid="{EBFDDD2A-1193-4788-B583-CD36A00DE478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71401E68100AF4E92CE105866F279B9" ma:contentTypeVersion="17" ma:contentTypeDescription="Ein neues Dokument erstellen." ma:contentTypeScope="" ma:versionID="f11889610d1daed83db45aa70d0d8d97">
  <xsd:schema xmlns:xsd="http://www.w3.org/2001/XMLSchema" xmlns:xs="http://www.w3.org/2001/XMLSchema" xmlns:p="http://schemas.microsoft.com/office/2006/metadata/properties" xmlns:ns2="5ee26d32-4b9a-4442-a06d-1b3b9fef35d2" xmlns:ns3="94085d37-dc5b-4c58-a313-508c2321ad0a" targetNamespace="http://schemas.microsoft.com/office/2006/metadata/properties" ma:root="true" ma:fieldsID="4da0b80672b6042a622693bb24c0d3e5" ns2:_="" ns3:_="">
    <xsd:import namespace="5ee26d32-4b9a-4442-a06d-1b3b9fef35d2"/>
    <xsd:import namespace="94085d37-dc5b-4c58-a313-508c2321ad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26d32-4b9a-4442-a06d-1b3b9fef3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b53bab62-43ea-43ac-8274-592983e83c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85d37-dc5b-4c58-a313-508c2321ad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d4f28ee-678e-4063-b5c2-75c5bcbd93c6}" ma:internalName="TaxCatchAll" ma:showField="CatchAllData" ma:web="94085d37-dc5b-4c58-a313-508c2321ad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BCE5A0-CA56-4FFF-B7CE-43702DD29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e26d32-4b9a-4442-a06d-1b3b9fef35d2"/>
    <ds:schemaRef ds:uri="94085d37-dc5b-4c58-a313-508c2321ad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CDB246-45C3-4259-B61B-34E9ED2A84C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DSAG-JK-2018 Template_final_2</Template>
  <TotalTime>917</TotalTime>
  <Words>489</Words>
  <Application>Microsoft Office PowerPoint</Application>
  <PresentationFormat>Widescreen</PresentationFormat>
  <Paragraphs>98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-apple-system</vt:lpstr>
      <vt:lpstr>Arial</vt:lpstr>
      <vt:lpstr>Arial Black</vt:lpstr>
      <vt:lpstr>Calibri</vt:lpstr>
      <vt:lpstr>Symbol</vt:lpstr>
      <vt:lpstr>Wingdings</vt:lpstr>
      <vt:lpstr>DSAG-Technologietage 2024</vt:lpstr>
      <vt:lpstr>1_DSAG-Technologietage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Christina Jäger</dc:creator>
  <cp:lastModifiedBy>Martin Pankraz (SAP Integration and Security)</cp:lastModifiedBy>
  <cp:revision>281</cp:revision>
  <dcterms:created xsi:type="dcterms:W3CDTF">2018-07-31T15:04:08Z</dcterms:created>
  <dcterms:modified xsi:type="dcterms:W3CDTF">2025-04-09T11:46:15Z</dcterms:modified>
</cp:coreProperties>
</file>